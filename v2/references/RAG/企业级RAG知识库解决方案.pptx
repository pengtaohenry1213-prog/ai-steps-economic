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1.svg" ContentType="image/svg+xml"/>
  <Override PartName="/ppt/media/image103.svg" ContentType="image/svg+xml"/>
  <Override PartName="/ppt/media/image105.svg" ContentType="image/svg+xml"/>
  <Override PartName="/ppt/media/image107.svg" ContentType="image/svg+xml"/>
  <Override PartName="/ppt/media/image12.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svg" ContentType="image/svg+xml"/>
  <Override PartName="/ppt/media/image30.svg" ContentType="image/svg+xml"/>
  <Override PartName="/ppt/media/image34.svg" ContentType="image/svg+xml"/>
  <Override PartName="/ppt/media/image36.svg" ContentType="image/svg+xml"/>
  <Override PartName="/ppt/media/image38.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5.svg" ContentType="image/svg+xml"/>
  <Override PartName="/ppt/media/image87.svg" ContentType="image/svg+xml"/>
  <Override PartName="/ppt/media/image89.svg" ContentType="image/svg+xml"/>
  <Override PartName="/ppt/media/image91.svg" ContentType="image/svg+xml"/>
  <Override PartName="/ppt/media/image93.svg" ContentType="image/svg+xml"/>
  <Override PartName="/ppt/media/image9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4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各位下午好，非常荣幸今天能有机会与大家交流。今天我将分享一个我们团队成功交付的企业级RAG（检索增强生成）知识库解决方案。</a:t>
            </a:r>
            <a:endParaRPr lang="en-US" sz="1400" b="0" i="0" u="none" strike="noStrike">
              <a:solidFill>
                <a:srgbClr val="000000"/>
              </a:solidFill>
            </a:endParaRPr>
          </a:p>
          <a:p>
            <a:pPr indent="0" algn="l">
              <a:lnSpc>
                <a:spcPct val="100000"/>
              </a:lnSpc>
            </a:pPr>
            <a:r>
              <a:rPr lang="en-US" sz="1400" b="0" i="0" u="none" strike="noStrike">
                <a:solidFill>
                  <a:srgbClr val="000000"/>
                </a:solidFill>
              </a:rPr>
              <a:t>这是一个脱敏案例，重点会放在如何处理企业中常见的多模态数据，以及如何实现类似BI系统的自然语言查询能力上。</a:t>
            </a:r>
            <a:endParaRPr lang="en-US" sz="1400" b="0" i="0" u="none" strike="noStrike">
              <a:solidFill>
                <a:srgbClr val="000000"/>
              </a:solidFill>
            </a:endParaRPr>
          </a:p>
          <a:p>
            <a:pPr indent="0" algn="l">
              <a:lnSpc>
                <a:spcPct val="100000"/>
              </a:lnSpc>
            </a:pPr>
            <a:r>
              <a:rPr lang="en-US" sz="1400" b="0" i="0" u="none" strike="noStrike">
                <a:solidFill>
                  <a:srgbClr val="000000"/>
                </a:solidFill>
              </a:rPr>
              <a:t>希望通过这个分享，能为大家在数据利用方面带来一些新的思路和启发。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与众多企业交流的过程中，我们发现一个非常普遍的现象：数据很多，但真正能用起来却很难。大家可以看一下这些场景，是不是感觉很熟悉？大量的PDF、Word文档，还有各种Excel表格和数据库，它们就像一个个数据孤岛。想从中找个信息，要么靠人工翻找，效率极低；要么就得麻烦IT同事写SQL，沟通成本很高。这导致很多宝贵的数据资产实际上处于沉睡状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些场景背后，是四个非常具体的痛点。首先是数据孤岛，信息不互通；其次是查询效率低，市场瞬息万变，我们等不起；第三，也是最可惜的，是知识无法沉淀，很多宝贵的经验和洞察都流失了；最后，技术门槛把最懂业务的人挡在了门外。这些问题本质上，不是我们‘有没有数据’，而是‘数据无法被自然语言高效地使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针对这些痛点，我们的核心思路不是简单地做一个聊天机器人，而是构建一个能让数据‘能听会说’的智能系统。具体来说，我们做四件事：第一，把所有数据统一管起来；第二，让用户能用大白话提问；第三，返回的结果要清晰、结构化，最好能直接生成图表；第四，整个过程是透明的，你知道答案从哪来。最终目标，是让每个业务人员都能成为自己的数据分析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方案的整体技术架构。大家不需要关注每个细节，我想强调的是，我们的架构主要解决了三个核心问题：第一，如何把五花八门的数据统一处理好；第二，如何在海量数据里快速、准确地找到最相关的信息；第三，如何生成一个既准确又符合业务逻辑的答案。这套架构保证了系统的稳定性、高效性和未来的可扩展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在企业级场景中，向量库的构建是整个方案的核心，也是最考验经验的地方。这里没有‘银弹’，我们不会用一套固定的方案去应对所有客户。</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我们会根据您的数据类型和业务目标，在模型精度和成本之间做权衡，比如选择什么样的Embedding模型；我们会针对文档和表格设计不同的处理策略，保证信息不失真。</a:t>
            </a:r>
            <a:endParaRPr lang="en-US" sz="1400" b="0" i="0" u="none" strike="noStrike">
              <a:solidFill>
                <a:srgbClr val="000000"/>
              </a:solidFill>
            </a:endParaRPr>
          </a:p>
          <a:p>
            <a:pPr indent="0" algn="l">
              <a:lnSpc>
                <a:spcPct val="100000"/>
              </a:lnSpc>
            </a:pPr>
            <a:r>
              <a:rPr lang="en-US" sz="1400" b="0" i="0" u="none" strike="noStrike">
                <a:solidFill>
                  <a:srgbClr val="000000"/>
                </a:solidFill>
              </a:rPr>
              <a:t>这是一个经验活，也是我们区别于普通方案的关键。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实际应用中，我们发现单纯依赖向量检索有时会‘想太多’，而单纯依赖关键词检索又太‘死板’。因此，我们采用了混合检索策略，结合两者的优点。同时，系统还会学习用户的提问习惯，对一些模糊的问题进行智能改写，确保您想问的，系统都能听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这是我们方案最具竞争力的部分，也是专门针对像您这样有BI需求的客户设计的。我们的系统不仅仅是回答‘是什么’，更能理解‘为什么’。</a:t>
            </a:r>
            <a:endParaRPr lang="en-US" sz="1400" b="0" i="0" u="none" strike="noStrike">
              <a:solidFill>
                <a:srgbClr val="000000"/>
              </a:solidFill>
            </a:endParaRPr>
          </a:p>
          <a:p>
            <a:pPr indent="0" algn="l">
              <a:lnSpc>
                <a:spcPct val="100000"/>
              </a:lnSpc>
            </a:pPr>
            <a:r>
              <a:rPr lang="en-US" sz="1400" b="0" i="0" u="none" strike="noStrike">
                <a:solidFill>
                  <a:srgbClr val="000000"/>
                </a:solidFill>
              </a:rPr>
              <a:t>比如您问‘华东区的销售冠军是谁’，它不仅能告诉你名字，还能分析他的销售构成，并生成一个趋势图。</a:t>
            </a:r>
            <a:endParaRPr lang="en-US" sz="1400" b="0" i="0" u="none" strike="noStrike">
              <a:solidFill>
                <a:srgbClr val="000000"/>
              </a:solidFill>
            </a:endParaRPr>
          </a:p>
          <a:p>
            <a:pPr indent="0" algn="l">
              <a:lnSpc>
                <a:spcPct val="100000"/>
              </a:lnSpc>
            </a:pPr>
            <a:r>
              <a:rPr lang="en-US" sz="1400" b="0" i="0" u="none" strike="noStrike">
                <a:solidFill>
                  <a:srgbClr val="000000"/>
                </a:solidFill>
              </a:rPr>
              <a:t>这已经超越了普通的文本问答，是真正理解数据的智能分析助手。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企业的数据是多样的，我们的系统必须能全盘接收。无论是PDF里的报告，Word里的纪要，还是Excel里的报表，我们都能统一处理。</a:t>
            </a:r>
            <a:endParaRPr lang="en-US" sz="1400" b="0" i="0" u="none" strike="noStrike">
              <a:solidFill>
                <a:srgbClr val="000000"/>
              </a:solidFill>
            </a:endParaRPr>
          </a:p>
          <a:p>
            <a:pPr indent="0" algn="l">
              <a:lnSpc>
                <a:spcPct val="100000"/>
              </a:lnSpc>
            </a:pPr>
            <a:r>
              <a:rPr lang="en-US" sz="1400" b="0" i="0" u="none" strike="noStrike">
                <a:solidFill>
                  <a:srgbClr val="000000"/>
                </a:solidFill>
              </a:rPr>
              <a:t>多模态的关键不在于‘能不能处理’，而在于‘如何统一理解和检索’，我们的技术确保了所有信息都能在同一个平台上被高效利用。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一下实际效果。这是一个典型项目的数据，虽然不同行业会有差异，但整体提升非常显著。查询效率提升了超过[80]%，过去需要半天才能拿到的数据，现在几秒钟就出来了。更重要的是，这解放了我们的数据分析师，让他们能做更有价值的工作。这些数字背后，是实实在在的效率提升和成本节约。</a:t>
            </a:r>
            <a:endParaRPr lang="en-US" sz="1400" b="0" i="0" u="none" strike="noStrike">
              <a:solidFill>
                <a:srgbClr val="000000"/>
              </a:solidFill>
            </a:endParaRPr>
          </a:p>
          <a:p>
            <a:pPr indent="0" algn="l">
              <a:lnSpc>
                <a:spcPct val="100000"/>
              </a:lnSpc>
            </a:pPr>
            <a:r>
              <a:rPr lang="zh-CN" altLang="en-US" sz="1400" b="0" i="0" u="none" strike="noStrike">
                <a:solidFill>
                  <a:srgbClr val="000000"/>
                </a:solidFill>
              </a:rPr>
              <a:t>【这些指标不是固定值，而是我们基于过往项目经验总结的“典型区间”，具体效果会和数据质量、业务复杂度、使用方式有关。】</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【比如查询效率这一块，我们一般是这样测算的：原来一个问题需要：* 人工找</a:t>
            </a:r>
            <a:r>
              <a:rPr lang="en-US" altLang="zh-CN" sz="1400" b="0" i="0" u="none" strike="noStrike">
                <a:solidFill>
                  <a:srgbClr val="000000"/>
                </a:solidFill>
              </a:rPr>
              <a:t>Excel / </a:t>
            </a:r>
            <a:r>
              <a:rPr lang="zh-CN" altLang="en-US" sz="1400" b="0" i="0" u="none" strike="noStrike">
                <a:solidFill>
                  <a:srgbClr val="000000"/>
                </a:solidFill>
              </a:rPr>
              <a:t>查系统 / 写</a:t>
            </a:r>
            <a:r>
              <a:rPr lang="en-US" altLang="zh-CN" sz="1400" b="0" i="0" u="none" strike="noStrike">
                <a:solidFill>
                  <a:srgbClr val="000000"/>
                </a:solidFill>
              </a:rPr>
              <a:t>SQL，</a:t>
            </a:r>
            <a:r>
              <a:rPr lang="zh-CN" altLang="en-US" sz="1400" b="0" i="0" u="none" strike="noStrike">
                <a:solidFill>
                  <a:srgbClr val="000000"/>
                </a:solidFill>
              </a:rPr>
              <a:t>大概需要10分钟~2小时。</a:t>
            </a:r>
            <a:r>
              <a:rPr lang="en-US" altLang="zh-CN" sz="1400" b="0" i="0" u="none" strike="noStrike">
                <a:solidFill>
                  <a:srgbClr val="000000"/>
                </a:solidFill>
              </a:rPr>
              <a:t> </a:t>
            </a:r>
            <a:r>
              <a:rPr lang="zh-CN" altLang="en-US" sz="1400" b="0" i="0" u="none" strike="noStrike">
                <a:solidFill>
                  <a:srgbClr val="000000"/>
                </a:solidFill>
              </a:rPr>
              <a:t>现在：* 通过自然语言查询，基本在几秒内返回结果。</a:t>
            </a:r>
            <a:r>
              <a:rPr lang="en-US" altLang="zh-CN" sz="1400" b="0" i="0" u="none" strike="noStrike">
                <a:solidFill>
                  <a:srgbClr val="000000"/>
                </a:solidFill>
              </a:rPr>
              <a:t> </a:t>
            </a:r>
            <a:r>
              <a:rPr lang="zh-CN" altLang="en-US" sz="1400" b="0" i="0" u="none" strike="noStrike">
                <a:solidFill>
                  <a:srgbClr val="000000"/>
                </a:solidFill>
              </a:rPr>
              <a:t>所以提升比例是：（原耗时 - 新耗时） / 原耗时在典型场景下，通常能达到70%~90%的提升】</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【人工成本这块，我们一般是按“工作量替代”来估算：比如原来：* 需要专人做数据提取、整理、报表。</a:t>
            </a:r>
            <a:r>
              <a:rPr lang="en-US" altLang="zh-CN" sz="1400" b="0" i="0" u="none" strike="noStrike">
                <a:solidFill>
                  <a:srgbClr val="000000"/>
                </a:solidFill>
              </a:rPr>
              <a:t> </a:t>
            </a:r>
            <a:r>
              <a:rPr lang="zh-CN" altLang="en-US" sz="1400" b="0" i="0" u="none" strike="noStrike">
                <a:solidFill>
                  <a:srgbClr val="000000"/>
                </a:solidFill>
              </a:rPr>
              <a:t>现在：* 很多查询可以直接通过系统完成所以可以减少这部分重复性工作的人力投入，一般在50%~70%左右】</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【决策响应速度更多是一个间接指标：原来：* 数据准备需要几小时甚至几天。</a:t>
            </a:r>
            <a:r>
              <a:rPr lang="en-US" altLang="zh-CN" sz="1400" b="0" i="0" u="none" strike="noStrike">
                <a:solidFill>
                  <a:srgbClr val="000000"/>
                </a:solidFill>
              </a:rPr>
              <a:t> </a:t>
            </a:r>
            <a:r>
              <a:rPr lang="zh-CN" altLang="en-US" sz="1400" b="0" i="0" u="none" strike="noStrike">
                <a:solidFill>
                  <a:srgbClr val="000000"/>
                </a:solidFill>
              </a:rPr>
              <a:t>现在：* 可以实时获取关键数据，所以决策周期会明显缩短，一般可以提升2~3倍以上】</a:t>
            </a:r>
            <a:endParaRPr lang="zh-CN" altLang="en-US" sz="1400" b="0" i="0" u="none" strike="noStrike">
              <a:solidFill>
                <a:srgbClr val="000000"/>
              </a:solidFill>
            </a:endParaRPr>
          </a:p>
          <a:p>
            <a:pPr indent="0" algn="l">
              <a:lnSpc>
                <a:spcPct val="100000"/>
              </a:lnSpc>
            </a:pPr>
            <a:r>
              <a:rPr lang="zh-CN" altLang="en-US" sz="1400" b="0" i="0" u="none" strike="noStrike">
                <a:solidFill>
                  <a:srgbClr val="000000"/>
                </a:solidFill>
              </a:rPr>
              <a:t>【准确率我们通常是通过测试集来评估的：* 选取一批典型业务问题</a:t>
            </a:r>
            <a:r>
              <a:rPr lang="en-US" altLang="zh-CN" sz="1400" b="0" i="0" u="none" strike="noStrike">
                <a:solidFill>
                  <a:srgbClr val="000000"/>
                </a:solidFill>
              </a:rPr>
              <a:t> </a:t>
            </a:r>
            <a:r>
              <a:rPr lang="zh-CN" altLang="en-US" sz="1400" b="0" i="0" u="none" strike="noStrike">
                <a:solidFill>
                  <a:srgbClr val="000000"/>
                </a:solidFill>
              </a:rPr>
              <a:t>* 人工给出标准答案</a:t>
            </a:r>
            <a:r>
              <a:rPr lang="en-US" altLang="zh-CN" sz="1400" b="0" i="0" u="none" strike="noStrike">
                <a:solidFill>
                  <a:srgbClr val="000000"/>
                </a:solidFill>
              </a:rPr>
              <a:t> </a:t>
            </a:r>
            <a:r>
              <a:rPr lang="zh-CN" altLang="en-US" sz="1400" b="0" i="0" u="none" strike="noStrike">
                <a:solidFill>
                  <a:srgbClr val="000000"/>
                </a:solidFill>
              </a:rPr>
              <a:t>* 对比系统返回结果。</a:t>
            </a:r>
            <a:r>
              <a:rPr lang="en-US" altLang="zh-CN" sz="1400" b="0" i="0" u="none" strike="noStrike">
                <a:solidFill>
                  <a:srgbClr val="000000"/>
                </a:solidFill>
              </a:rPr>
              <a:t> </a:t>
            </a:r>
            <a:r>
              <a:rPr lang="zh-CN" altLang="en-US" sz="1400" b="0" i="0" u="none" strike="noStrike">
                <a:solidFill>
                  <a:srgbClr val="000000"/>
                </a:solidFill>
              </a:rPr>
              <a:t>在核心场景下，一般可以做到80%~90%以上，具体取决于数据质量和模型策略】</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关于部署和安全，这是企业客户非常关心的问题。我们提供灵活的选项，既可以支持公有云部署，也完全支持本地化部署，确保您的数据100%留在自己的服务器里。同时，我们有成熟的权限管理体系，可以做到非常精细的数据隔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今天的分享主要是提供一个通用的思路。接下来，我们建议可以安排一个30分钟的线上沟通。我这边可以结合您现有的数据情况，比如Excel和数据库的占比、主要的查询场景等，为您设计一个更贴合实际的初步方案，并给出一个大致的时间和成本评估。您看什么时候方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这一页汇总了本次方案中需要您根据实际情况填充的核心数据指标。这些数据将用于更精准地展示方案的价值和效果。请您在会后提供相关数据，我们将为您更新这份演示材料。</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我的分享到此结束，非常感谢各位的聆听。现在是问答环节，欢迎大家提问，我们一起交流探讨。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11.png"/><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2" Type="http://schemas.openxmlformats.org/officeDocument/2006/relationships/notesSlide" Target="../notesSlides/notesSlide2.xml"/><Relationship Id="rId11" Type="http://schemas.openxmlformats.org/officeDocument/2006/relationships/slideLayout" Target="../slideLayouts/slideLayout12.xml"/><Relationship Id="rId10" Type="http://schemas.openxmlformats.org/officeDocument/2006/relationships/image" Target="../media/image13.jpe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14.jpeg"/><Relationship Id="rId12" Type="http://schemas.openxmlformats.org/officeDocument/2006/relationships/notesSlide" Target="../notesSlides/notesSlide3.xml"/><Relationship Id="rId11" Type="http://schemas.openxmlformats.org/officeDocument/2006/relationships/slideLayout" Target="../slideLayouts/slideLayout12.xml"/><Relationship Id="rId10" Type="http://schemas.openxmlformats.org/officeDocument/2006/relationships/image" Target="../media/image22.sv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9" Type="http://schemas.openxmlformats.org/officeDocument/2006/relationships/image" Target="../media/image30.svg"/><Relationship Id="rId8" Type="http://schemas.openxmlformats.org/officeDocument/2006/relationships/image" Target="../media/image29.png"/><Relationship Id="rId7" Type="http://schemas.openxmlformats.org/officeDocument/2006/relationships/image" Target="../media/image28.svg"/><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 Id="rId3" Type="http://schemas.openxmlformats.org/officeDocument/2006/relationships/image" Target="../media/image24.svg"/><Relationship Id="rId2" Type="http://schemas.openxmlformats.org/officeDocument/2006/relationships/image" Target="../media/image23.png"/><Relationship Id="rId12" Type="http://schemas.openxmlformats.org/officeDocument/2006/relationships/notesSlide" Target="../notesSlides/notesSlide4.xml"/><Relationship Id="rId11" Type="http://schemas.openxmlformats.org/officeDocument/2006/relationships/slideLayout" Target="../slideLayouts/slideLayout12.xml"/><Relationship Id="rId10" Type="http://schemas.openxmlformats.org/officeDocument/2006/relationships/image" Target="../media/image31.jpe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39.png"/><Relationship Id="rId7" Type="http://schemas.openxmlformats.org/officeDocument/2006/relationships/image" Target="../media/image38.svg"/><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image" Target="../media/image34.svg"/><Relationship Id="rId2" Type="http://schemas.openxmlformats.org/officeDocument/2006/relationships/image" Target="../media/image33.png"/><Relationship Id="rId15" Type="http://schemas.openxmlformats.org/officeDocument/2006/relationships/notesSlide" Target="../notesSlides/notesSlide5.xml"/><Relationship Id="rId14" Type="http://schemas.openxmlformats.org/officeDocument/2006/relationships/slideLayout" Target="../slideLayouts/slideLayout12.xml"/><Relationship Id="rId13" Type="http://schemas.openxmlformats.org/officeDocument/2006/relationships/image" Target="../media/image43.svg"/><Relationship Id="rId12" Type="http://schemas.openxmlformats.org/officeDocument/2006/relationships/image" Target="../media/image42.png"/><Relationship Id="rId11" Type="http://schemas.openxmlformats.org/officeDocument/2006/relationships/image" Target="../media/image41.svg"/><Relationship Id="rId10" Type="http://schemas.openxmlformats.org/officeDocument/2006/relationships/image" Target="../media/image40.png"/><Relationship Id="rId1" Type="http://schemas.openxmlformats.org/officeDocument/2006/relationships/image" Target="../media/image32.jpeg"/></Relationships>
</file>

<file path=ppt/slides/_rels/slide6.xml.rels><?xml version="1.0" encoding="UTF-8" standalone="yes"?>
<Relationships xmlns="http://schemas.openxmlformats.org/package/2006/relationships"><Relationship Id="rId9" Type="http://schemas.openxmlformats.org/officeDocument/2006/relationships/image" Target="../media/image50.svg"/><Relationship Id="rId8" Type="http://schemas.openxmlformats.org/officeDocument/2006/relationships/image" Target="../media/image49.png"/><Relationship Id="rId7" Type="http://schemas.openxmlformats.org/officeDocument/2006/relationships/image" Target="../media/image3.svg"/><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 Id="rId3" Type="http://schemas.openxmlformats.org/officeDocument/2006/relationships/image" Target="../media/image45.svg"/><Relationship Id="rId2" Type="http://schemas.openxmlformats.org/officeDocument/2006/relationships/image" Target="../media/image44.png"/><Relationship Id="rId11" Type="http://schemas.openxmlformats.org/officeDocument/2006/relationships/notesSlide" Target="../notesSlides/notesSlide6.xml"/><Relationship Id="rId10" Type="http://schemas.openxmlformats.org/officeDocument/2006/relationships/slideLayout" Target="../slideLayouts/slideLayout1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7.jpeg"/><Relationship Id="rId7" Type="http://schemas.openxmlformats.org/officeDocument/2006/relationships/image" Target="../media/image56.svg"/><Relationship Id="rId6" Type="http://schemas.openxmlformats.org/officeDocument/2006/relationships/image" Target="../media/image55.png"/><Relationship Id="rId5" Type="http://schemas.openxmlformats.org/officeDocument/2006/relationships/image" Target="../media/image54.svg"/><Relationship Id="rId4" Type="http://schemas.openxmlformats.org/officeDocument/2006/relationships/image" Target="../media/image53.png"/><Relationship Id="rId3" Type="http://schemas.openxmlformats.org/officeDocument/2006/relationships/image" Target="../media/image52.svg"/><Relationship Id="rId2" Type="http://schemas.openxmlformats.org/officeDocument/2006/relationships/image" Target="../media/image51.png"/><Relationship Id="rId10" Type="http://schemas.openxmlformats.org/officeDocument/2006/relationships/notesSlide" Target="../notesSlides/notesSlide7.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image" Target="../media/image64.svg"/><Relationship Id="rId7" Type="http://schemas.openxmlformats.org/officeDocument/2006/relationships/image" Target="../media/image63.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 Id="rId3" Type="http://schemas.openxmlformats.org/officeDocument/2006/relationships/image" Target="../media/image59.png"/><Relationship Id="rId2" Type="http://schemas.openxmlformats.org/officeDocument/2006/relationships/image" Target="../media/image58.jpeg"/><Relationship Id="rId12" Type="http://schemas.openxmlformats.org/officeDocument/2006/relationships/notesSlide" Target="../notesSlides/notesSlide8.xml"/><Relationship Id="rId11" Type="http://schemas.openxmlformats.org/officeDocument/2006/relationships/slideLayout" Target="../slideLayouts/slideLayout12.xml"/><Relationship Id="rId10" Type="http://schemas.openxmlformats.org/officeDocument/2006/relationships/image" Target="../media/image66.sv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9" Type="http://schemas.openxmlformats.org/officeDocument/2006/relationships/image" Target="../media/image45.svg"/><Relationship Id="rId8" Type="http://schemas.openxmlformats.org/officeDocument/2006/relationships/image" Target="../media/image73.png"/><Relationship Id="rId7" Type="http://schemas.openxmlformats.org/officeDocument/2006/relationships/image" Target="../media/image72.svg"/><Relationship Id="rId6" Type="http://schemas.openxmlformats.org/officeDocument/2006/relationships/image" Target="../media/image71.png"/><Relationship Id="rId5" Type="http://schemas.openxmlformats.org/officeDocument/2006/relationships/image" Target="../media/image70.svg"/><Relationship Id="rId4" Type="http://schemas.openxmlformats.org/officeDocument/2006/relationships/image" Target="../media/image69.png"/><Relationship Id="rId3" Type="http://schemas.openxmlformats.org/officeDocument/2006/relationships/image" Target="../media/image68.svg"/><Relationship Id="rId2" Type="http://schemas.openxmlformats.org/officeDocument/2006/relationships/image" Target="../media/image67.png"/><Relationship Id="rId12" Type="http://schemas.openxmlformats.org/officeDocument/2006/relationships/notesSlide" Target="../notesSlides/notesSlide9.xml"/><Relationship Id="rId11" Type="http://schemas.openxmlformats.org/officeDocument/2006/relationships/slideLayout" Target="../slideLayouts/slideLayout12.xml"/><Relationship Id="rId10" Type="http://schemas.openxmlformats.org/officeDocument/2006/relationships/image" Target="../media/image74.jpeg"/><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9" Type="http://schemas.openxmlformats.org/officeDocument/2006/relationships/image" Target="../media/image82.svg"/><Relationship Id="rId8" Type="http://schemas.openxmlformats.org/officeDocument/2006/relationships/image" Target="../media/image81.png"/><Relationship Id="rId7" Type="http://schemas.openxmlformats.org/officeDocument/2006/relationships/image" Target="../media/image80.svg"/><Relationship Id="rId6" Type="http://schemas.openxmlformats.org/officeDocument/2006/relationships/image" Target="../media/image79.png"/><Relationship Id="rId5" Type="http://schemas.openxmlformats.org/officeDocument/2006/relationships/image" Target="../media/image78.svg"/><Relationship Id="rId4" Type="http://schemas.openxmlformats.org/officeDocument/2006/relationships/image" Target="../media/image77.png"/><Relationship Id="rId3" Type="http://schemas.openxmlformats.org/officeDocument/2006/relationships/image" Target="../media/image76.svg"/><Relationship Id="rId2" Type="http://schemas.openxmlformats.org/officeDocument/2006/relationships/image" Target="../media/image75.png"/><Relationship Id="rId11" Type="http://schemas.openxmlformats.org/officeDocument/2006/relationships/notesSlide" Target="../notesSlides/notesSlide10.xml"/><Relationship Id="rId10" Type="http://schemas.openxmlformats.org/officeDocument/2006/relationships/slideLayout" Target="../slideLayouts/slideLayout12.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9.svg"/><Relationship Id="rId7" Type="http://schemas.openxmlformats.org/officeDocument/2006/relationships/image" Target="../media/image88.png"/><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85.svg"/><Relationship Id="rId3" Type="http://schemas.openxmlformats.org/officeDocument/2006/relationships/image" Target="../media/image84.png"/><Relationship Id="rId2" Type="http://schemas.openxmlformats.org/officeDocument/2006/relationships/image" Target="../media/image83.jpeg"/><Relationship Id="rId10" Type="http://schemas.openxmlformats.org/officeDocument/2006/relationships/notesSlide" Target="../notesSlides/notesSlide11.xml"/><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6.jpeg"/><Relationship Id="rId7" Type="http://schemas.openxmlformats.org/officeDocument/2006/relationships/image" Target="../media/image95.svg"/><Relationship Id="rId6" Type="http://schemas.openxmlformats.org/officeDocument/2006/relationships/image" Target="../media/image94.png"/><Relationship Id="rId5" Type="http://schemas.openxmlformats.org/officeDocument/2006/relationships/image" Target="../media/image93.svg"/><Relationship Id="rId4" Type="http://schemas.openxmlformats.org/officeDocument/2006/relationships/image" Target="../media/image92.png"/><Relationship Id="rId3" Type="http://schemas.openxmlformats.org/officeDocument/2006/relationships/image" Target="../media/image91.svg"/><Relationship Id="rId2" Type="http://schemas.openxmlformats.org/officeDocument/2006/relationships/image" Target="../media/image90.png"/><Relationship Id="rId10" Type="http://schemas.openxmlformats.org/officeDocument/2006/relationships/notesSlide" Target="../notesSlides/notesSlide12.xml"/><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9" Type="http://schemas.openxmlformats.org/officeDocument/2006/relationships/image" Target="../media/image103.svg"/><Relationship Id="rId8" Type="http://schemas.openxmlformats.org/officeDocument/2006/relationships/image" Target="../media/image102.png"/><Relationship Id="rId7" Type="http://schemas.openxmlformats.org/officeDocument/2006/relationships/image" Target="../media/image101.svg"/><Relationship Id="rId6" Type="http://schemas.openxmlformats.org/officeDocument/2006/relationships/image" Target="../media/image100.png"/><Relationship Id="rId5" Type="http://schemas.openxmlformats.org/officeDocument/2006/relationships/image" Target="../media/image18.svg"/><Relationship Id="rId4" Type="http://schemas.openxmlformats.org/officeDocument/2006/relationships/image" Target="../media/image99.png"/><Relationship Id="rId3" Type="http://schemas.openxmlformats.org/officeDocument/2006/relationships/image" Target="../media/image34.svg"/><Relationship Id="rId2" Type="http://schemas.openxmlformats.org/officeDocument/2006/relationships/image" Target="../media/image98.png"/><Relationship Id="rId15" Type="http://schemas.openxmlformats.org/officeDocument/2006/relationships/notesSlide" Target="../notesSlides/notesSlide13.xml"/><Relationship Id="rId14" Type="http://schemas.openxmlformats.org/officeDocument/2006/relationships/slideLayout" Target="../slideLayouts/slideLayout12.xml"/><Relationship Id="rId13" Type="http://schemas.openxmlformats.org/officeDocument/2006/relationships/image" Target="../media/image107.svg"/><Relationship Id="rId12" Type="http://schemas.openxmlformats.org/officeDocument/2006/relationships/image" Target="../media/image106.png"/><Relationship Id="rId11" Type="http://schemas.openxmlformats.org/officeDocument/2006/relationships/image" Target="../media/image105.svg"/><Relationship Id="rId10" Type="http://schemas.openxmlformats.org/officeDocument/2006/relationships/image" Target="../media/image104.png"/><Relationship Id="rId1" Type="http://schemas.openxmlformats.org/officeDocument/2006/relationships/image" Target="../media/image97.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109.png"/><Relationship Id="rId1" Type="http://schemas.openxmlformats.org/officeDocument/2006/relationships/image" Target="../media/image108.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905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FFFFFF"/>
                </a:solidFill>
                <a:latin typeface="Noto Sans SC"/>
                <a:ea typeface="Noto Sans SC"/>
                <a:cs typeface="Noto Sans SC"/>
                <a:sym typeface="Noto Sans SC"/>
              </a:rPr>
              <a:t>企业级RAG知识库解决方案</a:t>
            </a:r>
            <a:endParaRPr lang="en-US" sz="1100"/>
          </a:p>
        </p:txBody>
      </p:sp>
      <p:sp>
        <p:nvSpPr>
          <p:cNvPr id="4" name="AutoShape 4"/>
          <p:cNvSpPr/>
          <p:nvPr/>
        </p:nvSpPr>
        <p:spPr>
          <a:xfrm>
            <a:off x="762000" y="304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FFFFFF">
                    <a:alpha val="90196"/>
                  </a:srgbClr>
                </a:solidFill>
                <a:latin typeface="Noto Sans SC"/>
                <a:ea typeface="Noto Sans SC"/>
                <a:cs typeface="Noto Sans SC"/>
                <a:sym typeface="Noto Sans SC"/>
              </a:rPr>
              <a:t>面向多模态数据与BI查询场景的智能升级</a:t>
            </a:r>
            <a:endParaRPr lang="en-US" sz="1100"/>
          </a:p>
        </p:txBody>
      </p:sp>
      <p:sp>
        <p:nvSpPr>
          <p:cNvPr id="5" name="AutoShape 5"/>
          <p:cNvSpPr/>
          <p:nvPr/>
        </p:nvSpPr>
        <p:spPr>
          <a:xfrm>
            <a:off x="762000" y="3937000"/>
            <a:ext cx="2032000" cy="76200"/>
          </a:xfrm>
          <a:prstGeom prst="roundRect">
            <a:avLst>
              <a:gd name="adj" fmla="val 5000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4699000"/>
            <a:ext cx="457200" cy="457200"/>
          </a:xfrm>
          <a:prstGeom prst="rect">
            <a:avLst/>
          </a:prstGeom>
        </p:spPr>
      </p:pic>
      <p:sp>
        <p:nvSpPr>
          <p:cNvPr id="7" name="AutoShape 7"/>
          <p:cNvSpPr/>
          <p:nvPr/>
        </p:nvSpPr>
        <p:spPr>
          <a:xfrm>
            <a:off x="1397000" y="4724400"/>
            <a:ext cx="508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a:solidFill>
                  <a:srgbClr val="FFFFFF">
                    <a:alpha val="90196"/>
                  </a:srgbClr>
                </a:solidFill>
                <a:latin typeface="Noto Sans SC"/>
                <a:ea typeface="Noto Sans SC"/>
                <a:cs typeface="Noto Sans SC"/>
                <a:sym typeface="Noto Sans SC"/>
              </a:rPr>
              <a:t>白杨商业</a:t>
            </a:r>
            <a:r>
              <a:rPr lang="en-US" sz="1800" b="1" i="0" u="none" strike="noStrike">
                <a:solidFill>
                  <a:srgbClr val="FFFFFF">
                    <a:alpha val="90196"/>
                  </a:srgbClr>
                </a:solidFill>
                <a:latin typeface="Noto Sans SC"/>
                <a:ea typeface="Noto Sans SC"/>
                <a:cs typeface="Noto Sans SC"/>
                <a:sym typeface="Noto Sans SC"/>
              </a:rPr>
              <a:t>智能</a:t>
            </a:r>
            <a:r>
              <a:rPr lang="zh-CN" altLang="en-US" sz="1800" b="1" i="0" u="none" strike="noStrike">
                <a:solidFill>
                  <a:srgbClr val="FFFFFF">
                    <a:alpha val="90196"/>
                  </a:srgbClr>
                </a:solidFill>
                <a:latin typeface="Noto Sans SC"/>
                <a:ea typeface="Noto Sans SC"/>
                <a:cs typeface="Noto Sans SC"/>
                <a:sym typeface="Noto Sans SC"/>
              </a:rPr>
              <a:t>工作</a:t>
            </a:r>
            <a:r>
              <a:rPr lang="zh-CN" altLang="en-US" sz="1800" b="1" i="0" u="none" strike="noStrike">
                <a:solidFill>
                  <a:srgbClr val="FFFFFF">
                    <a:alpha val="90196"/>
                  </a:srgbClr>
                </a:solidFill>
                <a:latin typeface="Noto Sans SC"/>
                <a:ea typeface="Noto Sans SC"/>
                <a:cs typeface="Noto Sans SC"/>
                <a:sym typeface="Noto Sans SC"/>
              </a:rPr>
              <a:t>室</a:t>
            </a:r>
            <a:endParaRPr lang="zh-CN" altLang="en-US" sz="1800" b="1" i="0" u="none" strike="noStrike">
              <a:solidFill>
                <a:srgbClr val="FFFFFF">
                  <a:alpha val="90196"/>
                </a:srgbClr>
              </a:solidFill>
              <a:latin typeface="Noto Sans SC"/>
              <a:ea typeface="Noto Sans SC"/>
              <a:cs typeface="Noto Sans SC"/>
              <a:sym typeface="Noto Sans SC"/>
            </a:endParaRPr>
          </a:p>
        </p:txBody>
      </p:sp>
      <p:sp>
        <p:nvSpPr>
          <p:cNvPr id="8" name="AutoShape 8"/>
          <p:cNvSpPr/>
          <p:nvPr/>
        </p:nvSpPr>
        <p:spPr>
          <a:xfrm>
            <a:off x="762000" y="5461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Noto Sans SC"/>
                <a:ea typeface="Noto Sans SC"/>
                <a:cs typeface="Noto Sans SC"/>
                <a:sym typeface="Noto Sans SC"/>
              </a:rPr>
              <a:t>汇报时间：2026年5月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数据丰富，但价值挖掘困难</a:t>
            </a:r>
            <a:endParaRPr lang="en-US" sz="1100"/>
          </a:p>
        </p:txBody>
      </p:sp>
      <p:sp>
        <p:nvSpPr>
          <p:cNvPr id="4" name="AutoShape 4"/>
          <p:cNvSpPr/>
          <p:nvPr/>
        </p:nvSpPr>
        <p:spPr>
          <a:xfrm>
            <a:off x="762000" y="1524000"/>
            <a:ext cx="2540000" cy="2413000"/>
          </a:xfrm>
          <a:prstGeom prst="roundRect">
            <a:avLst>
              <a:gd name="adj" fmla="val 6315"/>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714500"/>
            <a:ext cx="457200" cy="457200"/>
          </a:xfrm>
          <a:prstGeom prst="rect">
            <a:avLst/>
          </a:prstGeom>
        </p:spPr>
      </p:pic>
      <p:sp>
        <p:nvSpPr>
          <p:cNvPr id="6" name="AutoShape 6"/>
          <p:cNvSpPr/>
          <p:nvPr/>
        </p:nvSpPr>
        <p:spPr>
          <a:xfrm>
            <a:off x="1587500" y="17526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多源异构并存</a:t>
            </a:r>
            <a:endParaRPr lang="en-US" sz="1100"/>
          </a:p>
        </p:txBody>
      </p:sp>
      <p:sp>
        <p:nvSpPr>
          <p:cNvPr id="7" name="AutoShape 7"/>
          <p:cNvSpPr/>
          <p:nvPr/>
        </p:nvSpPr>
        <p:spPr>
          <a:xfrm>
            <a:off x="952500" y="2413000"/>
            <a:ext cx="2159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E5E7EB">
                    <a:alpha val="80000"/>
                  </a:srgbClr>
                </a:solidFill>
                <a:latin typeface="Noto Sans SC"/>
                <a:ea typeface="Noto Sans SC"/>
                <a:cs typeface="Noto Sans SC"/>
                <a:sym typeface="Noto Sans SC"/>
              </a:rPr>
              <a:t>非结构化：PDF、文档、邮件、音视频等。</a:t>
            </a:r>
            <a:br>
              <a:rPr lang="en-US" sz="1100" b="0" i="0" u="none" strike="noStrike">
                <a:solidFill>
                  <a:srgbClr val="E5E7EB">
                    <a:alpha val="80000"/>
                  </a:srgbClr>
                </a:solidFill>
                <a:latin typeface="Noto Sans SC"/>
                <a:ea typeface="Noto Sans SC"/>
                <a:cs typeface="Noto Sans SC"/>
                <a:sym typeface="Noto Sans SC"/>
              </a:rPr>
            </a:br>
            <a:r>
              <a:rPr lang="en-US" sz="1100" b="0" i="0" u="none" strike="noStrike">
                <a:solidFill>
                  <a:srgbClr val="E5E7EB">
                    <a:alpha val="80000"/>
                  </a:srgbClr>
                </a:solidFill>
                <a:latin typeface="Noto Sans SC"/>
                <a:ea typeface="Noto Sans SC"/>
                <a:cs typeface="Noto Sans SC"/>
                <a:sym typeface="Noto Sans SC"/>
              </a:rPr>
              <a:t>结构化：数据库、Excel、数据仓库等。数据形态割裂严重。</a:t>
            </a:r>
            <a:endParaRPr lang="en-US" sz="1100"/>
          </a:p>
        </p:txBody>
      </p:sp>
      <p:sp>
        <p:nvSpPr>
          <p:cNvPr id="8" name="AutoShape 8"/>
          <p:cNvSpPr/>
          <p:nvPr/>
        </p:nvSpPr>
        <p:spPr>
          <a:xfrm>
            <a:off x="3556000" y="1524000"/>
            <a:ext cx="2540000" cy="2413000"/>
          </a:xfrm>
          <a:prstGeom prst="roundRect">
            <a:avLst>
              <a:gd name="adj" fmla="val 6315"/>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46500" y="1714500"/>
            <a:ext cx="457200" cy="457200"/>
          </a:xfrm>
          <a:prstGeom prst="rect">
            <a:avLst/>
          </a:prstGeom>
        </p:spPr>
      </p:pic>
      <p:sp>
        <p:nvSpPr>
          <p:cNvPr id="10" name="AutoShape 10"/>
          <p:cNvSpPr/>
          <p:nvPr/>
        </p:nvSpPr>
        <p:spPr>
          <a:xfrm>
            <a:off x="4381500" y="17526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数据量爆发式增长</a:t>
            </a:r>
            <a:endParaRPr lang="en-US" sz="1100"/>
          </a:p>
        </p:txBody>
      </p:sp>
      <p:sp>
        <p:nvSpPr>
          <p:cNvPr id="11" name="AutoShape 11"/>
          <p:cNvSpPr/>
          <p:nvPr/>
        </p:nvSpPr>
        <p:spPr>
          <a:xfrm>
            <a:off x="3746500" y="2413000"/>
            <a:ext cx="2159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E5E7EB">
                    <a:alpha val="80000"/>
                  </a:srgbClr>
                </a:solidFill>
                <a:latin typeface="Noto Sans SC"/>
                <a:ea typeface="Noto Sans SC"/>
                <a:cs typeface="Noto Sans SC"/>
                <a:sym typeface="Noto Sans SC"/>
              </a:rPr>
              <a:t>企业累计文档超</a:t>
            </a:r>
            <a:r>
              <a:rPr lang="en-US" sz="1100" b="1" i="0" u="none" strike="noStrike">
                <a:solidFill>
                  <a:srgbClr val="38A169"/>
                </a:solidFill>
                <a:latin typeface="Noto Sans SC"/>
                <a:ea typeface="Noto Sans SC"/>
                <a:cs typeface="Noto Sans SC"/>
                <a:sym typeface="Noto Sans SC"/>
              </a:rPr>
              <a:t>数百万</a:t>
            </a:r>
            <a:r>
              <a:rPr lang="en-US" sz="1100" b="0" i="0" u="none" strike="noStrike">
                <a:solidFill>
                  <a:srgbClr val="E5E7EB">
                    <a:alpha val="80000"/>
                  </a:srgbClr>
                </a:solidFill>
                <a:latin typeface="Noto Sans SC"/>
                <a:ea typeface="Noto Sans SC"/>
                <a:cs typeface="Noto Sans SC"/>
                <a:sym typeface="Noto Sans SC"/>
              </a:rPr>
              <a:t>份，且每日持续高速增长，传统存储方式难以承载。</a:t>
            </a:r>
            <a:endParaRPr lang="en-US" sz="1100"/>
          </a:p>
        </p:txBody>
      </p:sp>
      <p:sp>
        <p:nvSpPr>
          <p:cNvPr id="12" name="AutoShape 12"/>
          <p:cNvSpPr/>
          <p:nvPr/>
        </p:nvSpPr>
        <p:spPr>
          <a:xfrm>
            <a:off x="762000" y="4191000"/>
            <a:ext cx="2540000" cy="2159000"/>
          </a:xfrm>
          <a:prstGeom prst="roundRect">
            <a:avLst>
              <a:gd name="adj" fmla="val 7058"/>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381500"/>
            <a:ext cx="457200" cy="457200"/>
          </a:xfrm>
          <a:prstGeom prst="rect">
            <a:avLst/>
          </a:prstGeom>
        </p:spPr>
      </p:pic>
      <p:sp>
        <p:nvSpPr>
          <p:cNvPr id="14" name="AutoShape 14"/>
          <p:cNvSpPr/>
          <p:nvPr/>
        </p:nvSpPr>
        <p:spPr>
          <a:xfrm>
            <a:off x="1587500" y="44196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查询方式原始低效</a:t>
            </a:r>
            <a:endParaRPr lang="en-US" sz="1100"/>
          </a:p>
        </p:txBody>
      </p:sp>
      <p:sp>
        <p:nvSpPr>
          <p:cNvPr id="15" name="AutoShape 15"/>
          <p:cNvSpPr/>
          <p:nvPr/>
        </p:nvSpPr>
        <p:spPr>
          <a:xfrm>
            <a:off x="952500" y="5016500"/>
            <a:ext cx="2159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E5E7EB">
                    <a:alpha val="80000"/>
                  </a:srgbClr>
                </a:solidFill>
                <a:latin typeface="Noto Sans SC"/>
                <a:ea typeface="Noto Sans SC"/>
                <a:cs typeface="Noto Sans SC"/>
                <a:sym typeface="Noto Sans SC"/>
              </a:rPr>
              <a:t>信息获取严重依赖人工翻找、单一关键词匹配，或需编写复杂SQL。</a:t>
            </a:r>
            <a:endParaRPr lang="en-US" sz="1100"/>
          </a:p>
        </p:txBody>
      </p:sp>
      <p:sp>
        <p:nvSpPr>
          <p:cNvPr id="16" name="AutoShape 16"/>
          <p:cNvSpPr/>
          <p:nvPr/>
        </p:nvSpPr>
        <p:spPr>
          <a:xfrm>
            <a:off x="3556000" y="4191000"/>
            <a:ext cx="2540000" cy="2159000"/>
          </a:xfrm>
          <a:prstGeom prst="roundRect">
            <a:avLst>
              <a:gd name="adj" fmla="val 7058"/>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746500" y="4381500"/>
            <a:ext cx="457200" cy="457200"/>
          </a:xfrm>
          <a:prstGeom prst="rect">
            <a:avLst/>
          </a:prstGeom>
        </p:spPr>
      </p:pic>
      <p:sp>
        <p:nvSpPr>
          <p:cNvPr id="18" name="AutoShape 18"/>
          <p:cNvSpPr/>
          <p:nvPr/>
        </p:nvSpPr>
        <p:spPr>
          <a:xfrm>
            <a:off x="4381500" y="44196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业务使用门槛高</a:t>
            </a:r>
            <a:endParaRPr lang="en-US" sz="1100"/>
          </a:p>
        </p:txBody>
      </p:sp>
      <p:sp>
        <p:nvSpPr>
          <p:cNvPr id="19" name="AutoShape 19"/>
          <p:cNvSpPr/>
          <p:nvPr/>
        </p:nvSpPr>
        <p:spPr>
          <a:xfrm>
            <a:off x="3746500" y="5016500"/>
            <a:ext cx="2159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E5E7EB">
                    <a:alpha val="80000"/>
                  </a:srgbClr>
                </a:solidFill>
                <a:latin typeface="Noto Sans SC"/>
                <a:ea typeface="Noto Sans SC"/>
                <a:cs typeface="Noto Sans SC"/>
                <a:sym typeface="Noto Sans SC"/>
              </a:rPr>
              <a:t>非技术背景的业务人员无法独立、高效地获取数据洞察，数据资产沉睡。</a:t>
            </a:r>
            <a:endParaRPr lang="en-US" sz="1100"/>
          </a:p>
        </p:txBody>
      </p:sp>
      <p:pic>
        <p:nvPicPr>
          <p:cNvPr id="20" name="Picture 20"/>
          <p:cNvPicPr>
            <a:picLocks noChangeAspect="1"/>
          </p:cNvPicPr>
          <p:nvPr/>
        </p:nvPicPr>
        <p:blipFill>
          <a:blip r:embed="rId10"/>
          <a:srcRect l="20394" r="20394"/>
          <a:stretch>
            <a:fillRect/>
          </a:stretch>
        </p:blipFill>
        <p:spPr>
          <a:xfrm>
            <a:off x="6350000" y="1524000"/>
            <a:ext cx="5080000" cy="4826000"/>
          </a:xfrm>
          <a:prstGeom prst="roundRect">
            <a:avLst>
              <a:gd name="adj" fmla="val 4210"/>
            </a:avLst>
          </a:prstGeom>
          <a:noFill/>
          <a:ln w="25400" cap="flat" cmpd="sng">
            <a:noFill/>
            <a:prstDash val="solid"/>
            <a:round/>
          </a:ln>
          <a:effectLst>
            <a:outerShdw blurRad="254000" dist="76200" dir="2700000" algn="tl" rotWithShape="0">
              <a:srgbClr val="000000">
                <a:alpha val="35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数据价值无法释放的四大瓶颈</a:t>
            </a:r>
            <a:endParaRPr lang="en-US" sz="1100"/>
          </a:p>
        </p:txBody>
      </p:sp>
      <p:pic>
        <p:nvPicPr>
          <p:cNvPr id="4" name="Picture 4"/>
          <p:cNvPicPr>
            <a:picLocks noChangeAspect="1"/>
          </p:cNvPicPr>
          <p:nvPr/>
        </p:nvPicPr>
        <p:blipFill>
          <a:blip r:embed="rId2"/>
          <a:srcRect l="24835" r="24835"/>
          <a:stretch>
            <a:fillRect/>
          </a:stretch>
        </p:blipFill>
        <p:spPr>
          <a:xfrm>
            <a:off x="762000" y="1524000"/>
            <a:ext cx="4318000" cy="4826000"/>
          </a:xfrm>
          <a:prstGeom prst="roundRect">
            <a:avLst>
              <a:gd name="adj" fmla="val 4705"/>
            </a:avLst>
          </a:prstGeom>
          <a:noFill/>
          <a:ln w="25400" cap="flat" cmpd="sng">
            <a:noFill/>
            <a:prstDash val="solid"/>
            <a:round/>
          </a:ln>
          <a:effectLst>
            <a:outerShdw blurRad="190500" dist="50800" dir="2700000" algn="tl" rotWithShape="0">
              <a:srgbClr val="000000">
                <a:alpha val="30000"/>
              </a:srgbClr>
            </a:outerShdw>
          </a:effectLst>
        </p:spPr>
      </p:pic>
      <p:sp>
        <p:nvSpPr>
          <p:cNvPr id="5" name="AutoShape 5"/>
          <p:cNvSpPr/>
          <p:nvPr/>
        </p:nvSpPr>
        <p:spPr>
          <a:xfrm>
            <a:off x="5334000" y="1524000"/>
            <a:ext cx="3048000" cy="2286000"/>
          </a:xfrm>
          <a:prstGeom prst="roundRect">
            <a:avLst>
              <a:gd name="adj" fmla="val 6666"/>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0" y="1778000"/>
            <a:ext cx="457200" cy="457200"/>
          </a:xfrm>
          <a:prstGeom prst="rect">
            <a:avLst/>
          </a:prstGeom>
        </p:spPr>
      </p:pic>
      <p:sp>
        <p:nvSpPr>
          <p:cNvPr id="7" name="AutoShape 7"/>
          <p:cNvSpPr/>
          <p:nvPr/>
        </p:nvSpPr>
        <p:spPr>
          <a:xfrm>
            <a:off x="6223000" y="18034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数据孤岛严重</a:t>
            </a:r>
            <a:endParaRPr lang="en-US" sz="1100"/>
          </a:p>
        </p:txBody>
      </p:sp>
      <p:sp>
        <p:nvSpPr>
          <p:cNvPr id="8" name="AutoShape 8"/>
          <p:cNvSpPr/>
          <p:nvPr/>
        </p:nvSpPr>
        <p:spPr>
          <a:xfrm>
            <a:off x="5588000" y="2413000"/>
            <a:ext cx="2540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5E7EB">
                    <a:alpha val="80000"/>
                  </a:srgbClr>
                </a:solidFill>
                <a:latin typeface="Noto Sans SC"/>
                <a:ea typeface="Noto Sans SC"/>
                <a:cs typeface="Noto Sans SC"/>
                <a:sym typeface="Noto Sans SC"/>
              </a:rPr>
              <a:t>信息分散存储，无法形成统一、连贯的知识视图，导致信息割裂，难以发挥数据合力。</a:t>
            </a:r>
            <a:endParaRPr lang="en-US" sz="1100"/>
          </a:p>
        </p:txBody>
      </p:sp>
      <p:sp>
        <p:nvSpPr>
          <p:cNvPr id="9" name="AutoShape 9"/>
          <p:cNvSpPr/>
          <p:nvPr/>
        </p:nvSpPr>
        <p:spPr>
          <a:xfrm>
            <a:off x="8636000" y="1524000"/>
            <a:ext cx="3048000" cy="2286000"/>
          </a:xfrm>
          <a:prstGeom prst="roundRect">
            <a:avLst>
              <a:gd name="adj" fmla="val 6666"/>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0" y="1778000"/>
            <a:ext cx="457200" cy="457200"/>
          </a:xfrm>
          <a:prstGeom prst="rect">
            <a:avLst/>
          </a:prstGeom>
        </p:spPr>
      </p:pic>
      <p:sp>
        <p:nvSpPr>
          <p:cNvPr id="11" name="AutoShape 11"/>
          <p:cNvSpPr/>
          <p:nvPr/>
        </p:nvSpPr>
        <p:spPr>
          <a:xfrm>
            <a:off x="9525000" y="18034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查询效率低下</a:t>
            </a:r>
            <a:endParaRPr lang="en-US" sz="1100"/>
          </a:p>
        </p:txBody>
      </p:sp>
      <p:sp>
        <p:nvSpPr>
          <p:cNvPr id="12" name="AutoShape 12"/>
          <p:cNvSpPr/>
          <p:nvPr/>
        </p:nvSpPr>
        <p:spPr>
          <a:xfrm>
            <a:off x="8890000" y="2413000"/>
            <a:ext cx="2540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5E7EB">
                    <a:alpha val="80000"/>
                  </a:srgbClr>
                </a:solidFill>
                <a:latin typeface="Noto Sans SC"/>
                <a:ea typeface="Noto Sans SC"/>
                <a:cs typeface="Noto Sans SC"/>
                <a:sym typeface="Noto Sans SC"/>
              </a:rPr>
              <a:t>人工查询耗时耗力，一次跨部门数据请求往往需要数小时甚至数天，严重拖慢业务决策节奏。</a:t>
            </a:r>
            <a:endParaRPr lang="en-US" sz="1100"/>
          </a:p>
        </p:txBody>
      </p:sp>
      <p:sp>
        <p:nvSpPr>
          <p:cNvPr id="13" name="AutoShape 13"/>
          <p:cNvSpPr/>
          <p:nvPr/>
        </p:nvSpPr>
        <p:spPr>
          <a:xfrm>
            <a:off x="5334000" y="4064000"/>
            <a:ext cx="3048000" cy="2286000"/>
          </a:xfrm>
          <a:prstGeom prst="roundRect">
            <a:avLst>
              <a:gd name="adj" fmla="val 6666"/>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88000" y="4318000"/>
            <a:ext cx="457200" cy="457200"/>
          </a:xfrm>
          <a:prstGeom prst="rect">
            <a:avLst/>
          </a:prstGeom>
        </p:spPr>
      </p:pic>
      <p:sp>
        <p:nvSpPr>
          <p:cNvPr id="15" name="AutoShape 15"/>
          <p:cNvSpPr/>
          <p:nvPr/>
        </p:nvSpPr>
        <p:spPr>
          <a:xfrm>
            <a:off x="6223000" y="43434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知识无法沉淀</a:t>
            </a:r>
            <a:endParaRPr lang="en-US" sz="1100"/>
          </a:p>
        </p:txBody>
      </p:sp>
      <p:sp>
        <p:nvSpPr>
          <p:cNvPr id="16" name="AutoShape 16"/>
          <p:cNvSpPr/>
          <p:nvPr/>
        </p:nvSpPr>
        <p:spPr>
          <a:xfrm>
            <a:off x="5588000" y="4953000"/>
            <a:ext cx="2540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5E7EB">
                    <a:alpha val="80000"/>
                  </a:srgbClr>
                </a:solidFill>
                <a:latin typeface="Noto Sans SC"/>
                <a:ea typeface="Noto Sans SC"/>
                <a:cs typeface="Noto Sans SC"/>
                <a:sym typeface="Noto Sans SC"/>
              </a:rPr>
              <a:t>关键业务洞察散落在个人电脑或邮件中，随人员变动而流失，无法转化为可持续的组织记忆资产。</a:t>
            </a:r>
            <a:endParaRPr lang="en-US" sz="1100"/>
          </a:p>
        </p:txBody>
      </p:sp>
      <p:sp>
        <p:nvSpPr>
          <p:cNvPr id="17" name="AutoShape 17"/>
          <p:cNvSpPr/>
          <p:nvPr/>
        </p:nvSpPr>
        <p:spPr>
          <a:xfrm>
            <a:off x="8636000" y="4064000"/>
            <a:ext cx="3048000" cy="2286000"/>
          </a:xfrm>
          <a:prstGeom prst="roundRect">
            <a:avLst>
              <a:gd name="adj" fmla="val 6666"/>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90000" y="4318000"/>
            <a:ext cx="457200" cy="457200"/>
          </a:xfrm>
          <a:prstGeom prst="rect">
            <a:avLst/>
          </a:prstGeom>
        </p:spPr>
      </p:pic>
      <p:sp>
        <p:nvSpPr>
          <p:cNvPr id="19" name="AutoShape 19"/>
          <p:cNvSpPr/>
          <p:nvPr/>
        </p:nvSpPr>
        <p:spPr>
          <a:xfrm>
            <a:off x="9525000" y="43434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技术门槛高筑</a:t>
            </a:r>
            <a:endParaRPr lang="en-US" sz="1100"/>
          </a:p>
        </p:txBody>
      </p:sp>
      <p:sp>
        <p:nvSpPr>
          <p:cNvPr id="20" name="AutoShape 20"/>
          <p:cNvSpPr/>
          <p:nvPr/>
        </p:nvSpPr>
        <p:spPr>
          <a:xfrm>
            <a:off x="8890000" y="4953000"/>
            <a:ext cx="25400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5E7EB">
                    <a:alpha val="80000"/>
                  </a:srgbClr>
                </a:solidFill>
                <a:latin typeface="Noto Sans SC"/>
                <a:ea typeface="Noto Sans SC"/>
                <a:cs typeface="Noto Sans SC"/>
                <a:sym typeface="Noto Sans SC"/>
              </a:rPr>
              <a:t>复杂的SQL与工具将业务人员挡在门外，无法自主探索数据，“数据分析师”成为制约发展的瓶颈岗位。</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让数据“能听会说”，实现智能化查询</a:t>
            </a:r>
            <a:endParaRPr lang="en-US" sz="1100"/>
          </a:p>
        </p:txBody>
      </p:sp>
      <p:sp>
        <p:nvSpPr>
          <p:cNvPr id="4" name="AutoShape 4"/>
          <p:cNvSpPr/>
          <p:nvPr/>
        </p:nvSpPr>
        <p:spPr>
          <a:xfrm>
            <a:off x="762000" y="1524000"/>
            <a:ext cx="5080000" cy="1143000"/>
          </a:xfrm>
          <a:prstGeom prst="roundRect">
            <a:avLst>
              <a:gd name="adj" fmla="val 11111"/>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143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714500"/>
            <a:ext cx="711200" cy="711200"/>
          </a:xfrm>
          <a:prstGeom prst="ellipse">
            <a:avLst/>
          </a:prstGeom>
          <a:solidFill>
            <a:srgbClr val="38A169">
              <a:alpha val="2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8400" y="1866900"/>
            <a:ext cx="406400" cy="406400"/>
          </a:xfrm>
          <a:prstGeom prst="rect">
            <a:avLst/>
          </a:prstGeom>
        </p:spPr>
      </p:pic>
      <p:sp>
        <p:nvSpPr>
          <p:cNvPr id="8" name="AutoShape 8"/>
          <p:cNvSpPr/>
          <p:nvPr/>
        </p:nvSpPr>
        <p:spPr>
          <a:xfrm>
            <a:off x="1905000" y="16510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数据统一接入</a:t>
            </a:r>
            <a:endParaRPr lang="en-US" sz="1100"/>
          </a:p>
        </p:txBody>
      </p:sp>
      <p:sp>
        <p:nvSpPr>
          <p:cNvPr id="9" name="AutoShape 9"/>
          <p:cNvSpPr/>
          <p:nvPr/>
        </p:nvSpPr>
        <p:spPr>
          <a:xfrm>
            <a:off x="1905000" y="2032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E5E7EB">
                    <a:alpha val="80000"/>
                  </a:srgbClr>
                </a:solidFill>
                <a:latin typeface="Noto Sans SC"/>
                <a:ea typeface="Noto Sans SC"/>
                <a:cs typeface="Noto Sans SC"/>
                <a:sym typeface="Noto Sans SC"/>
              </a:rPr>
              <a:t>构建统一的数据处理中心，自动、安全地接入并理解各类结构化与非结构化数据，打破信息孤岛。</a:t>
            </a:r>
            <a:endParaRPr lang="en-US" sz="1100"/>
          </a:p>
        </p:txBody>
      </p:sp>
      <p:sp>
        <p:nvSpPr>
          <p:cNvPr id="10" name="AutoShape 10"/>
          <p:cNvSpPr/>
          <p:nvPr/>
        </p:nvSpPr>
        <p:spPr>
          <a:xfrm>
            <a:off x="762000" y="2794000"/>
            <a:ext cx="5080000" cy="1143000"/>
          </a:xfrm>
          <a:prstGeom prst="roundRect">
            <a:avLst>
              <a:gd name="adj" fmla="val 11111"/>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2794000"/>
            <a:ext cx="76200" cy="1143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2984500"/>
            <a:ext cx="711200" cy="711200"/>
          </a:xfrm>
          <a:prstGeom prst="ellipse">
            <a:avLst/>
          </a:prstGeom>
          <a:solidFill>
            <a:srgbClr val="38A169">
              <a:alpha val="2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8400" y="3136900"/>
            <a:ext cx="406400" cy="406400"/>
          </a:xfrm>
          <a:prstGeom prst="rect">
            <a:avLst/>
          </a:prstGeom>
        </p:spPr>
      </p:pic>
      <p:sp>
        <p:nvSpPr>
          <p:cNvPr id="14" name="AutoShape 14"/>
          <p:cNvSpPr/>
          <p:nvPr/>
        </p:nvSpPr>
        <p:spPr>
          <a:xfrm>
            <a:off x="1905000" y="29210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自然语言查询</a:t>
            </a:r>
            <a:endParaRPr lang="en-US" sz="1100"/>
          </a:p>
        </p:txBody>
      </p:sp>
      <p:sp>
        <p:nvSpPr>
          <p:cNvPr id="15" name="AutoShape 15"/>
          <p:cNvSpPr/>
          <p:nvPr/>
        </p:nvSpPr>
        <p:spPr>
          <a:xfrm>
            <a:off x="1905000" y="3302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E5E7EB">
                    <a:alpha val="80000"/>
                  </a:srgbClr>
                </a:solidFill>
                <a:latin typeface="Noto Sans SC"/>
                <a:ea typeface="Noto Sans SC"/>
                <a:cs typeface="Noto Sans SC"/>
                <a:sym typeface="Noto Sans SC"/>
              </a:rPr>
              <a:t>支持用户使用日常业务语言提问（如“上季度华东区销售额”），系统自动理解语义并执行查询。</a:t>
            </a:r>
            <a:endParaRPr lang="en-US" sz="1100"/>
          </a:p>
        </p:txBody>
      </p:sp>
      <p:sp>
        <p:nvSpPr>
          <p:cNvPr id="16" name="AutoShape 16"/>
          <p:cNvSpPr/>
          <p:nvPr/>
        </p:nvSpPr>
        <p:spPr>
          <a:xfrm>
            <a:off x="762000" y="4064000"/>
            <a:ext cx="5080000" cy="1143000"/>
          </a:xfrm>
          <a:prstGeom prst="roundRect">
            <a:avLst>
              <a:gd name="adj" fmla="val 11111"/>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064000"/>
            <a:ext cx="76200" cy="1143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4254500"/>
            <a:ext cx="711200" cy="711200"/>
          </a:xfrm>
          <a:prstGeom prst="ellipse">
            <a:avLst/>
          </a:prstGeom>
          <a:solidFill>
            <a:srgbClr val="38A169">
              <a:alpha val="2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8400" y="4406900"/>
            <a:ext cx="406400" cy="406400"/>
          </a:xfrm>
          <a:prstGeom prst="rect">
            <a:avLst/>
          </a:prstGeom>
        </p:spPr>
      </p:pic>
      <p:sp>
        <p:nvSpPr>
          <p:cNvPr id="20" name="AutoShape 20"/>
          <p:cNvSpPr/>
          <p:nvPr/>
        </p:nvSpPr>
        <p:spPr>
          <a:xfrm>
            <a:off x="1905000" y="41910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返回结构化结果</a:t>
            </a:r>
            <a:endParaRPr lang="en-US" sz="1100"/>
          </a:p>
        </p:txBody>
      </p:sp>
      <p:sp>
        <p:nvSpPr>
          <p:cNvPr id="21" name="AutoShape 21"/>
          <p:cNvSpPr/>
          <p:nvPr/>
        </p:nvSpPr>
        <p:spPr>
          <a:xfrm>
            <a:off x="1905000" y="4572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E5E7EB">
                    <a:alpha val="80000"/>
                  </a:srgbClr>
                </a:solidFill>
                <a:latin typeface="Noto Sans SC"/>
                <a:ea typeface="Noto Sans SC"/>
                <a:cs typeface="Noto Sans SC"/>
                <a:sym typeface="Noto Sans SC"/>
              </a:rPr>
              <a:t>不仅返回数据答案，还附带数据来源、可视化图表及分析性描述，结果清晰可信，可直接用于汇报。</a:t>
            </a:r>
            <a:endParaRPr lang="en-US" sz="1100"/>
          </a:p>
        </p:txBody>
      </p:sp>
      <p:sp>
        <p:nvSpPr>
          <p:cNvPr id="22" name="AutoShape 22"/>
          <p:cNvSpPr/>
          <p:nvPr/>
        </p:nvSpPr>
        <p:spPr>
          <a:xfrm>
            <a:off x="762000" y="5334000"/>
            <a:ext cx="5080000" cy="1143000"/>
          </a:xfrm>
          <a:prstGeom prst="roundRect">
            <a:avLst>
              <a:gd name="adj" fmla="val 11111"/>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62000" y="5334000"/>
            <a:ext cx="76200" cy="1143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16000" y="5524500"/>
            <a:ext cx="711200" cy="711200"/>
          </a:xfrm>
          <a:prstGeom prst="ellipse">
            <a:avLst/>
          </a:prstGeom>
          <a:solidFill>
            <a:srgbClr val="38A169">
              <a:alpha val="2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68400" y="5676900"/>
            <a:ext cx="406400" cy="406400"/>
          </a:xfrm>
          <a:prstGeom prst="rect">
            <a:avLst/>
          </a:prstGeom>
        </p:spPr>
      </p:pic>
      <p:sp>
        <p:nvSpPr>
          <p:cNvPr id="26" name="AutoShape 26"/>
          <p:cNvSpPr/>
          <p:nvPr/>
        </p:nvSpPr>
        <p:spPr>
          <a:xfrm>
            <a:off x="1905000" y="54610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过程可解释</a:t>
            </a:r>
            <a:endParaRPr lang="en-US" sz="1100"/>
          </a:p>
        </p:txBody>
      </p:sp>
      <p:sp>
        <p:nvSpPr>
          <p:cNvPr id="27" name="AutoShape 27"/>
          <p:cNvSpPr/>
          <p:nvPr/>
        </p:nvSpPr>
        <p:spPr>
          <a:xfrm>
            <a:off x="1905000" y="58420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E5E7EB">
                    <a:alpha val="80000"/>
                  </a:srgbClr>
                </a:solidFill>
                <a:latin typeface="Noto Sans SC"/>
                <a:ea typeface="Noto Sans SC"/>
                <a:cs typeface="Noto Sans SC"/>
                <a:sym typeface="Noto Sans SC"/>
              </a:rPr>
              <a:t>提供完整的查询溯源能力，展示答案的推理逻辑与数据链路，拒绝“黑盒”，增强业务人员的信任感。</a:t>
            </a:r>
            <a:endParaRPr lang="en-US" sz="1100"/>
          </a:p>
        </p:txBody>
      </p:sp>
      <p:sp>
        <p:nvSpPr>
          <p:cNvPr id="28" name="AutoShape 28"/>
          <p:cNvSpPr/>
          <p:nvPr/>
        </p:nvSpPr>
        <p:spPr>
          <a:xfrm>
            <a:off x="6096000" y="1524000"/>
            <a:ext cx="4953000" cy="4953000"/>
          </a:xfrm>
          <a:prstGeom prst="roundRect">
            <a:avLst>
              <a:gd name="adj" fmla="val 4102"/>
            </a:avLst>
          </a:prstGeom>
          <a:solidFill>
            <a:srgbClr val="FFFFFF">
              <a:alpha val="5000"/>
            </a:srgbClr>
          </a:solidFill>
          <a:ln w="25400" cap="flat" cmpd="sng">
            <a:solidFill>
              <a:srgbClr val="38A169">
                <a:alpha val="40000"/>
              </a:srgbClr>
            </a:solidFill>
            <a:prstDash val="solid"/>
            <a:round/>
          </a:ln>
          <a:effectLst>
            <a:outerShdw blurRad="254000" dist="101600" dir="2700000" algn="tl" rotWithShape="0">
              <a:srgbClr val="000000">
                <a:alpha val="30000"/>
              </a:srgbClr>
            </a:outerShdw>
          </a:effectLst>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0"/>
          <a:srcRect l="21874" r="21875"/>
          <a:stretch>
            <a:fillRect/>
          </a:stretch>
        </p:blipFill>
        <p:spPr>
          <a:xfrm>
            <a:off x="6223000" y="1651000"/>
            <a:ext cx="4699000" cy="4699000"/>
          </a:xfrm>
          <a:prstGeom prst="roundRect">
            <a:avLst>
              <a:gd name="adj" fmla="val 3243"/>
            </a:avLst>
          </a:prstGeom>
          <a:noFill/>
          <a:ln w="25400" cap="flat" cmpd="sng">
            <a:noFill/>
            <a:prstDash val="solid"/>
            <a:rou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稳健、高效、可扩展的技术架构</a:t>
            </a:r>
            <a:endParaRPr lang="en-US" sz="1100"/>
          </a:p>
        </p:txBody>
      </p:sp>
      <p:sp>
        <p:nvSpPr>
          <p:cNvPr id="4" name="AutoShape 4"/>
          <p:cNvSpPr/>
          <p:nvPr/>
        </p:nvSpPr>
        <p:spPr>
          <a:xfrm>
            <a:off x="762000" y="1651000"/>
            <a:ext cx="3302000" cy="2032000"/>
          </a:xfrm>
          <a:prstGeom prst="roundRect">
            <a:avLst>
              <a:gd name="adj" fmla="val 7500"/>
            </a:avLst>
          </a:prstGeom>
          <a:solidFill>
            <a:srgbClr val="1F2937">
              <a:alpha val="90000"/>
            </a:srgbClr>
          </a:solidFill>
          <a:ln w="12700" cap="flat" cmpd="sng">
            <a:solidFill>
              <a:srgbClr val="38A169">
                <a:alpha val="6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457200" cy="457200"/>
          </a:xfrm>
          <a:prstGeom prst="rect">
            <a:avLst/>
          </a:prstGeom>
        </p:spPr>
      </p:pic>
      <p:sp>
        <p:nvSpPr>
          <p:cNvPr id="6" name="AutoShape 6"/>
          <p:cNvSpPr/>
          <p:nvPr/>
        </p:nvSpPr>
        <p:spPr>
          <a:xfrm>
            <a:off x="1651000" y="19050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数据层 Data Layer</a:t>
            </a:r>
            <a:endParaRPr lang="en-US" sz="1100"/>
          </a:p>
        </p:txBody>
      </p:sp>
      <p:sp>
        <p:nvSpPr>
          <p:cNvPr id="7" name="AutoShape 7"/>
          <p:cNvSpPr/>
          <p:nvPr/>
        </p:nvSpPr>
        <p:spPr>
          <a:xfrm>
            <a:off x="1016000" y="2540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D1D5DB"/>
                </a:solidFill>
                <a:latin typeface="Noto Sans SC"/>
                <a:ea typeface="Noto Sans SC"/>
                <a:cs typeface="Noto Sans SC"/>
                <a:sym typeface="Noto Sans SC"/>
              </a:rPr>
              <a:t>接入并整合各类异构数据源，包括 PDF、Word、Excel 等文档，以及数据库(DB)、企业级 API 接口数据。</a:t>
            </a:r>
            <a:endParaRPr lang="en-US" sz="1100"/>
          </a:p>
        </p:txBody>
      </p:sp>
      <p:sp>
        <p:nvSpPr>
          <p:cNvPr id="8" name="AutoShape 8"/>
          <p:cNvSpPr/>
          <p:nvPr/>
        </p:nvSpPr>
        <p:spPr>
          <a:xfrm>
            <a:off x="4445000" y="1651000"/>
            <a:ext cx="3302000" cy="2032000"/>
          </a:xfrm>
          <a:prstGeom prst="roundRect">
            <a:avLst>
              <a:gd name="adj" fmla="val 7500"/>
            </a:avLst>
          </a:prstGeom>
          <a:solidFill>
            <a:srgbClr val="1F2937">
              <a:alpha val="90000"/>
            </a:srgbClr>
          </a:solidFill>
          <a:ln w="12700" cap="flat" cmpd="sng">
            <a:solidFill>
              <a:srgbClr val="38A169">
                <a:alpha val="6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905000"/>
            <a:ext cx="457200" cy="457200"/>
          </a:xfrm>
          <a:prstGeom prst="rect">
            <a:avLst/>
          </a:prstGeom>
        </p:spPr>
      </p:pic>
      <p:sp>
        <p:nvSpPr>
          <p:cNvPr id="10" name="AutoShape 10"/>
          <p:cNvSpPr/>
          <p:nvPr/>
        </p:nvSpPr>
        <p:spPr>
          <a:xfrm>
            <a:off x="5334000" y="19050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处理层 Process Layer</a:t>
            </a:r>
            <a:endParaRPr lang="en-US" sz="1100"/>
          </a:p>
        </p:txBody>
      </p:sp>
      <p:sp>
        <p:nvSpPr>
          <p:cNvPr id="11" name="AutoShape 11"/>
          <p:cNvSpPr/>
          <p:nvPr/>
        </p:nvSpPr>
        <p:spPr>
          <a:xfrm>
            <a:off x="4699000" y="2540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D1D5DB"/>
                </a:solidFill>
                <a:latin typeface="Noto Sans SC"/>
                <a:ea typeface="Noto Sans SC"/>
                <a:cs typeface="Noto Sans SC"/>
                <a:sym typeface="Noto Sans SC"/>
              </a:rPr>
              <a:t>负责数据的统一接入、清洗与标准化，并进行核心的 Embedding（向量化）处理，将非结构化数据转化为机器可理解的向量。</a:t>
            </a:r>
            <a:endParaRPr lang="en-US" sz="1100"/>
          </a:p>
        </p:txBody>
      </p:sp>
      <p:sp>
        <p:nvSpPr>
          <p:cNvPr id="12" name="AutoShape 12"/>
          <p:cNvSpPr/>
          <p:nvPr/>
        </p:nvSpPr>
        <p:spPr>
          <a:xfrm>
            <a:off x="8128000" y="1651000"/>
            <a:ext cx="3302000" cy="2032000"/>
          </a:xfrm>
          <a:prstGeom prst="roundRect">
            <a:avLst>
              <a:gd name="adj" fmla="val 7500"/>
            </a:avLst>
          </a:prstGeom>
          <a:solidFill>
            <a:srgbClr val="1F2937">
              <a:alpha val="90000"/>
            </a:srgbClr>
          </a:solidFill>
          <a:ln w="12700" cap="flat" cmpd="sng">
            <a:solidFill>
              <a:srgbClr val="38A169">
                <a:alpha val="6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1905000"/>
            <a:ext cx="457200" cy="457200"/>
          </a:xfrm>
          <a:prstGeom prst="rect">
            <a:avLst/>
          </a:prstGeom>
        </p:spPr>
      </p:pic>
      <p:sp>
        <p:nvSpPr>
          <p:cNvPr id="14" name="AutoShape 14"/>
          <p:cNvSpPr/>
          <p:nvPr/>
        </p:nvSpPr>
        <p:spPr>
          <a:xfrm>
            <a:off x="9017000" y="19050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存储层 Storage Layer</a:t>
            </a:r>
            <a:endParaRPr lang="en-US" sz="1100"/>
          </a:p>
        </p:txBody>
      </p:sp>
      <p:sp>
        <p:nvSpPr>
          <p:cNvPr id="15" name="AutoShape 15"/>
          <p:cNvSpPr/>
          <p:nvPr/>
        </p:nvSpPr>
        <p:spPr>
          <a:xfrm>
            <a:off x="8382000" y="2540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D1D5DB"/>
                </a:solidFill>
                <a:latin typeface="Noto Sans SC"/>
                <a:ea typeface="Noto Sans SC"/>
                <a:cs typeface="Noto Sans SC"/>
                <a:sym typeface="Noto Sans SC"/>
              </a:rPr>
              <a:t>采用“混合存储”架构，结合高性能向量数据库存储向量数据，利用关系型数据库管理结构化元数据，实现高效持久化。</a:t>
            </a:r>
            <a:endParaRPr lang="en-US" sz="1100"/>
          </a:p>
        </p:txBody>
      </p:sp>
      <p:sp>
        <p:nvSpPr>
          <p:cNvPr id="16" name="AutoShape 16"/>
          <p:cNvSpPr/>
          <p:nvPr/>
        </p:nvSpPr>
        <p:spPr>
          <a:xfrm>
            <a:off x="762000" y="3937000"/>
            <a:ext cx="3302000" cy="2032000"/>
          </a:xfrm>
          <a:prstGeom prst="roundRect">
            <a:avLst>
              <a:gd name="adj" fmla="val 7500"/>
            </a:avLst>
          </a:prstGeom>
          <a:solidFill>
            <a:srgbClr val="1F2937">
              <a:alpha val="90000"/>
            </a:srgbClr>
          </a:solidFill>
          <a:ln w="12700" cap="flat" cmpd="sng">
            <a:solidFill>
              <a:srgbClr val="38A169">
                <a:alpha val="6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191000"/>
            <a:ext cx="457200" cy="457200"/>
          </a:xfrm>
          <a:prstGeom prst="rect">
            <a:avLst/>
          </a:prstGeom>
        </p:spPr>
      </p:pic>
      <p:sp>
        <p:nvSpPr>
          <p:cNvPr id="18" name="AutoShape 18"/>
          <p:cNvSpPr/>
          <p:nvPr/>
        </p:nvSpPr>
        <p:spPr>
          <a:xfrm>
            <a:off x="1651000" y="41910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检索层 Search Layer</a:t>
            </a:r>
            <a:endParaRPr lang="en-US" sz="1100"/>
          </a:p>
        </p:txBody>
      </p:sp>
      <p:sp>
        <p:nvSpPr>
          <p:cNvPr id="19" name="AutoShape 19"/>
          <p:cNvSpPr/>
          <p:nvPr/>
        </p:nvSpPr>
        <p:spPr>
          <a:xfrm>
            <a:off x="1016000" y="4826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D1D5DB"/>
                </a:solidFill>
                <a:latin typeface="Noto Sans SC"/>
                <a:ea typeface="Noto Sans SC"/>
                <a:cs typeface="Noto Sans SC"/>
                <a:sym typeface="Noto Sans SC"/>
              </a:rPr>
              <a:t>基于混合检索引擎，深度融合“语义向量检索”与“传统关键词检索”，在保证召回准确性的同时，大幅提升检索速度。</a:t>
            </a:r>
            <a:endParaRPr lang="en-US" sz="1100"/>
          </a:p>
        </p:txBody>
      </p:sp>
      <p:sp>
        <p:nvSpPr>
          <p:cNvPr id="20" name="AutoShape 20"/>
          <p:cNvSpPr/>
          <p:nvPr/>
        </p:nvSpPr>
        <p:spPr>
          <a:xfrm>
            <a:off x="4445000" y="3937000"/>
            <a:ext cx="3302000" cy="2032000"/>
          </a:xfrm>
          <a:prstGeom prst="roundRect">
            <a:avLst>
              <a:gd name="adj" fmla="val 7500"/>
            </a:avLst>
          </a:prstGeom>
          <a:solidFill>
            <a:srgbClr val="1F2937">
              <a:alpha val="90000"/>
            </a:srgbClr>
          </a:solidFill>
          <a:ln w="12700" cap="flat" cmpd="sng">
            <a:solidFill>
              <a:srgbClr val="38A169">
                <a:alpha val="6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99000" y="4191000"/>
            <a:ext cx="457200" cy="457200"/>
          </a:xfrm>
          <a:prstGeom prst="rect">
            <a:avLst/>
          </a:prstGeom>
        </p:spPr>
      </p:pic>
      <p:sp>
        <p:nvSpPr>
          <p:cNvPr id="22" name="AutoShape 22"/>
          <p:cNvSpPr/>
          <p:nvPr/>
        </p:nvSpPr>
        <p:spPr>
          <a:xfrm>
            <a:off x="5334000" y="41910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生成层 Generate Layer</a:t>
            </a:r>
            <a:endParaRPr lang="en-US" sz="1100"/>
          </a:p>
        </p:txBody>
      </p:sp>
      <p:sp>
        <p:nvSpPr>
          <p:cNvPr id="23" name="AutoShape 23"/>
          <p:cNvSpPr/>
          <p:nvPr/>
        </p:nvSpPr>
        <p:spPr>
          <a:xfrm>
            <a:off x="4699000" y="4826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D1D5DB"/>
                </a:solidFill>
                <a:latin typeface="Noto Sans SC"/>
                <a:ea typeface="Noto Sans SC"/>
                <a:cs typeface="Noto Sans SC"/>
                <a:sym typeface="Noto Sans SC"/>
              </a:rPr>
              <a:t>核心驱动层，集成大语言模型(LLM)。基于检索层召回的精准上下文，生成符合业务逻辑、内容准确的自然语言回答。</a:t>
            </a:r>
            <a:endParaRPr lang="en-US" sz="1100"/>
          </a:p>
        </p:txBody>
      </p:sp>
      <p:sp>
        <p:nvSpPr>
          <p:cNvPr id="24" name="AutoShape 24"/>
          <p:cNvSpPr/>
          <p:nvPr/>
        </p:nvSpPr>
        <p:spPr>
          <a:xfrm>
            <a:off x="8128000" y="3937000"/>
            <a:ext cx="3302000" cy="2032000"/>
          </a:xfrm>
          <a:prstGeom prst="roundRect">
            <a:avLst>
              <a:gd name="adj" fmla="val 7500"/>
            </a:avLst>
          </a:prstGeom>
          <a:solidFill>
            <a:srgbClr val="1F2937">
              <a:alpha val="90000"/>
            </a:srgbClr>
          </a:solidFill>
          <a:ln w="12700" cap="flat" cmpd="sng">
            <a:solidFill>
              <a:srgbClr val="38A169">
                <a:alpha val="6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82000" y="4191000"/>
            <a:ext cx="457200" cy="457200"/>
          </a:xfrm>
          <a:prstGeom prst="rect">
            <a:avLst/>
          </a:prstGeom>
        </p:spPr>
      </p:pic>
      <p:sp>
        <p:nvSpPr>
          <p:cNvPr id="26" name="AutoShape 26"/>
          <p:cNvSpPr/>
          <p:nvPr/>
        </p:nvSpPr>
        <p:spPr>
          <a:xfrm>
            <a:off x="9017000" y="41910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应用层 Application</a:t>
            </a:r>
            <a:endParaRPr lang="en-US" sz="1100"/>
          </a:p>
        </p:txBody>
      </p:sp>
      <p:sp>
        <p:nvSpPr>
          <p:cNvPr id="27" name="AutoShape 27"/>
          <p:cNvSpPr/>
          <p:nvPr/>
        </p:nvSpPr>
        <p:spPr>
          <a:xfrm>
            <a:off x="8382000" y="4826000"/>
            <a:ext cx="2794000" cy="889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D1D5DB"/>
                </a:solidFill>
                <a:latin typeface="Noto Sans SC"/>
                <a:ea typeface="Noto Sans SC"/>
                <a:cs typeface="Noto Sans SC"/>
                <a:sym typeface="Noto Sans SC"/>
              </a:rPr>
              <a:t>面向终端用户的交互出口，提供智能问答界面、BI 商业报表无缝集成以及标准的 API 接口，支持多端业务灵活调用。</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核心能力一：向量库构建策略</a:t>
            </a:r>
            <a:endParaRPr lang="en-US" sz="1100"/>
          </a:p>
        </p:txBody>
      </p:sp>
      <p:sp>
        <p:nvSpPr>
          <p:cNvPr id="4" name="AutoShape 4"/>
          <p:cNvSpPr/>
          <p:nvPr/>
        </p:nvSpPr>
        <p:spPr>
          <a:xfrm>
            <a:off x="762000" y="1524000"/>
            <a:ext cx="4318000" cy="4572000"/>
          </a:xfrm>
          <a:prstGeom prst="roundRect">
            <a:avLst>
              <a:gd name="adj" fmla="val 4705"/>
            </a:avLst>
          </a:prstGeom>
          <a:solidFill>
            <a:srgbClr val="FFFFFF">
              <a:alpha val="5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5334000" y="1524000"/>
            <a:ext cx="3048000" cy="2159000"/>
          </a:xfrm>
          <a:prstGeom prst="roundRect">
            <a:avLst>
              <a:gd name="adj" fmla="val 7058"/>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24500" y="1714500"/>
            <a:ext cx="457200" cy="457200"/>
          </a:xfrm>
          <a:prstGeom prst="rect">
            <a:avLst/>
          </a:prstGeom>
        </p:spPr>
      </p:pic>
      <p:sp>
        <p:nvSpPr>
          <p:cNvPr id="7" name="AutoShape 7"/>
          <p:cNvSpPr/>
          <p:nvPr/>
        </p:nvSpPr>
        <p:spPr>
          <a:xfrm>
            <a:off x="6223000" y="1752600"/>
            <a:ext cx="203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Embedding模型选型</a:t>
            </a:r>
            <a:endParaRPr lang="en-US" sz="1100"/>
          </a:p>
        </p:txBody>
      </p:sp>
      <p:sp>
        <p:nvSpPr>
          <p:cNvPr id="8" name="AutoShape 8"/>
          <p:cNvSpPr/>
          <p:nvPr/>
        </p:nvSpPr>
        <p:spPr>
          <a:xfrm>
            <a:off x="6223000" y="2222500"/>
            <a:ext cx="19685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E5E7EB">
                    <a:alpha val="80000"/>
                  </a:srgbClr>
                </a:solidFill>
                <a:latin typeface="Noto Sans SC"/>
                <a:ea typeface="Noto Sans SC"/>
                <a:cs typeface="Noto Sans SC"/>
                <a:sym typeface="Noto Sans SC"/>
              </a:rPr>
              <a:t>根据业务场景和数据类型，在模型精度、推理速度和部署成本之间进行综合权衡与选择。</a:t>
            </a:r>
            <a:endParaRPr lang="en-US" sz="1100"/>
          </a:p>
        </p:txBody>
      </p:sp>
      <p:sp>
        <p:nvSpPr>
          <p:cNvPr id="9" name="AutoShape 9"/>
          <p:cNvSpPr/>
          <p:nvPr/>
        </p:nvSpPr>
        <p:spPr>
          <a:xfrm>
            <a:off x="8636000" y="1524000"/>
            <a:ext cx="3048000" cy="2159000"/>
          </a:xfrm>
          <a:prstGeom prst="roundRect">
            <a:avLst>
              <a:gd name="adj" fmla="val 7058"/>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26500" y="1714500"/>
            <a:ext cx="457200" cy="457200"/>
          </a:xfrm>
          <a:prstGeom prst="rect">
            <a:avLst/>
          </a:prstGeom>
        </p:spPr>
      </p:pic>
      <p:sp>
        <p:nvSpPr>
          <p:cNvPr id="11" name="AutoShape 11"/>
          <p:cNvSpPr/>
          <p:nvPr/>
        </p:nvSpPr>
        <p:spPr>
          <a:xfrm>
            <a:off x="9525000" y="1752600"/>
            <a:ext cx="203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Chunk策略优化</a:t>
            </a:r>
            <a:endParaRPr lang="en-US" sz="1100"/>
          </a:p>
        </p:txBody>
      </p:sp>
      <p:sp>
        <p:nvSpPr>
          <p:cNvPr id="12" name="AutoShape 12"/>
          <p:cNvSpPr/>
          <p:nvPr/>
        </p:nvSpPr>
        <p:spPr>
          <a:xfrm>
            <a:off x="9525000" y="2222500"/>
            <a:ext cx="19685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E5E7EB">
                    <a:alpha val="80000"/>
                  </a:srgbClr>
                </a:solidFill>
                <a:latin typeface="Noto Sans SC"/>
                <a:ea typeface="Noto Sans SC"/>
                <a:cs typeface="Noto Sans SC"/>
                <a:sym typeface="Noto Sans SC"/>
              </a:rPr>
              <a:t>针对文档采用“语义优先”切片，表格采用“结构优先”解析，确保数据向量化后的信息完整性。</a:t>
            </a:r>
            <a:endParaRPr lang="en-US" sz="1100"/>
          </a:p>
        </p:txBody>
      </p:sp>
      <p:sp>
        <p:nvSpPr>
          <p:cNvPr id="13" name="AutoShape 13"/>
          <p:cNvSpPr/>
          <p:nvPr/>
        </p:nvSpPr>
        <p:spPr>
          <a:xfrm>
            <a:off x="5334000" y="3937000"/>
            <a:ext cx="3048000" cy="2159000"/>
          </a:xfrm>
          <a:prstGeom prst="roundRect">
            <a:avLst>
              <a:gd name="adj" fmla="val 7058"/>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24500" y="4127500"/>
            <a:ext cx="457200" cy="457200"/>
          </a:xfrm>
          <a:prstGeom prst="rect">
            <a:avLst/>
          </a:prstGeom>
        </p:spPr>
      </p:pic>
      <p:sp>
        <p:nvSpPr>
          <p:cNvPr id="15" name="AutoShape 15"/>
          <p:cNvSpPr/>
          <p:nvPr/>
        </p:nvSpPr>
        <p:spPr>
          <a:xfrm>
            <a:off x="6223000" y="4165600"/>
            <a:ext cx="203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多模态统一处理</a:t>
            </a:r>
            <a:endParaRPr lang="en-US" sz="1100"/>
          </a:p>
        </p:txBody>
      </p:sp>
      <p:sp>
        <p:nvSpPr>
          <p:cNvPr id="16" name="AutoShape 16"/>
          <p:cNvSpPr/>
          <p:nvPr/>
        </p:nvSpPr>
        <p:spPr>
          <a:xfrm>
            <a:off x="6223000" y="4635500"/>
            <a:ext cx="19685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E5E7EB">
                    <a:alpha val="80000"/>
                  </a:srgbClr>
                </a:solidFill>
                <a:latin typeface="Noto Sans SC"/>
                <a:ea typeface="Noto Sans SC"/>
                <a:cs typeface="Noto Sans SC"/>
                <a:sym typeface="Noto Sans SC"/>
              </a:rPr>
              <a:t>将文本、表格、图片等异构数据，通过统一的向量化技术映射到同一语义空间，实现高效的跨模态检索。</a:t>
            </a:r>
            <a:endParaRPr lang="en-US" sz="1100"/>
          </a:p>
        </p:txBody>
      </p:sp>
      <p:sp>
        <p:nvSpPr>
          <p:cNvPr id="17" name="AutoShape 17"/>
          <p:cNvSpPr/>
          <p:nvPr/>
        </p:nvSpPr>
        <p:spPr>
          <a:xfrm>
            <a:off x="8636000" y="3937000"/>
            <a:ext cx="3048000" cy="2159000"/>
          </a:xfrm>
          <a:prstGeom prst="roundRect">
            <a:avLst>
              <a:gd name="adj" fmla="val 7058"/>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26500" y="4127500"/>
            <a:ext cx="457200" cy="457200"/>
          </a:xfrm>
          <a:prstGeom prst="rect">
            <a:avLst/>
          </a:prstGeom>
        </p:spPr>
      </p:pic>
      <p:sp>
        <p:nvSpPr>
          <p:cNvPr id="19" name="AutoShape 19"/>
          <p:cNvSpPr/>
          <p:nvPr/>
        </p:nvSpPr>
        <p:spPr>
          <a:xfrm>
            <a:off x="9525000" y="4165600"/>
            <a:ext cx="203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元数据精细化设计</a:t>
            </a:r>
            <a:endParaRPr lang="en-US" sz="1100"/>
          </a:p>
        </p:txBody>
      </p:sp>
      <p:sp>
        <p:nvSpPr>
          <p:cNvPr id="20" name="AutoShape 20"/>
          <p:cNvSpPr/>
          <p:nvPr/>
        </p:nvSpPr>
        <p:spPr>
          <a:xfrm>
            <a:off x="9525000" y="4635500"/>
            <a:ext cx="19685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E5E7EB">
                    <a:alpha val="80000"/>
                  </a:srgbClr>
                </a:solidFill>
                <a:latin typeface="Noto Sans SC"/>
                <a:ea typeface="Noto Sans SC"/>
                <a:cs typeface="Noto Sans SC"/>
                <a:sym typeface="Noto Sans SC"/>
              </a:rPr>
              <a:t>为数据打上部门、时间、文档类型等丰富标签，为后续的精准数据筛选、权限控制与管理打下坚实基础。</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核心能力二：智能检索策略</a:t>
            </a:r>
            <a:endParaRPr lang="en-US" sz="1100"/>
          </a:p>
        </p:txBody>
      </p:sp>
      <p:sp>
        <p:nvSpPr>
          <p:cNvPr id="4" name="AutoShape 4"/>
          <p:cNvSpPr/>
          <p:nvPr/>
        </p:nvSpPr>
        <p:spPr>
          <a:xfrm>
            <a:off x="762000" y="1524000"/>
            <a:ext cx="5080000" cy="1397000"/>
          </a:xfrm>
          <a:prstGeom prst="roundRect">
            <a:avLst>
              <a:gd name="adj" fmla="val 10909"/>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397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2200" y="1714500"/>
            <a:ext cx="508000" cy="508000"/>
          </a:xfrm>
          <a:prstGeom prst="rect">
            <a:avLst/>
          </a:prstGeom>
        </p:spPr>
      </p:pic>
      <p:sp>
        <p:nvSpPr>
          <p:cNvPr id="7" name="AutoShape 7"/>
          <p:cNvSpPr/>
          <p:nvPr/>
        </p:nvSpPr>
        <p:spPr>
          <a:xfrm>
            <a:off x="1854200" y="1714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混合检索 (Hybrid Search)</a:t>
            </a:r>
            <a:endParaRPr lang="en-US" sz="1100"/>
          </a:p>
        </p:txBody>
      </p:sp>
      <p:sp>
        <p:nvSpPr>
          <p:cNvPr id="8" name="AutoShape 8"/>
          <p:cNvSpPr/>
          <p:nvPr/>
        </p:nvSpPr>
        <p:spPr>
          <a:xfrm>
            <a:off x="1854200" y="2222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E5E7EB"/>
                </a:solidFill>
                <a:latin typeface="Noto Sans SC"/>
                <a:ea typeface="Noto Sans SC"/>
                <a:cs typeface="Noto Sans SC"/>
                <a:sym typeface="Noto Sans SC"/>
              </a:rPr>
              <a:t>结合“向量检索”的语义理解与“关键词检索”的精准匹配，优势互补，有效解决单一检索方式的局限性。</a:t>
            </a:r>
            <a:endParaRPr lang="en-US" sz="1100"/>
          </a:p>
        </p:txBody>
      </p:sp>
      <p:sp>
        <p:nvSpPr>
          <p:cNvPr id="9" name="AutoShape 9"/>
          <p:cNvSpPr/>
          <p:nvPr/>
        </p:nvSpPr>
        <p:spPr>
          <a:xfrm>
            <a:off x="762000" y="3175000"/>
            <a:ext cx="5080000" cy="1397000"/>
          </a:xfrm>
          <a:prstGeom prst="roundRect">
            <a:avLst>
              <a:gd name="adj" fmla="val 10909"/>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175000"/>
            <a:ext cx="76200" cy="1397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2200" y="3365500"/>
            <a:ext cx="508000" cy="508000"/>
          </a:xfrm>
          <a:prstGeom prst="rect">
            <a:avLst/>
          </a:prstGeom>
        </p:spPr>
      </p:pic>
      <p:sp>
        <p:nvSpPr>
          <p:cNvPr id="12" name="AutoShape 12"/>
          <p:cNvSpPr/>
          <p:nvPr/>
        </p:nvSpPr>
        <p:spPr>
          <a:xfrm>
            <a:off x="1854200" y="3365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动态调优机制</a:t>
            </a:r>
            <a:endParaRPr lang="en-US" sz="1100"/>
          </a:p>
        </p:txBody>
      </p:sp>
      <p:sp>
        <p:nvSpPr>
          <p:cNvPr id="13" name="AutoShape 13"/>
          <p:cNvSpPr/>
          <p:nvPr/>
        </p:nvSpPr>
        <p:spPr>
          <a:xfrm>
            <a:off x="1854200" y="3873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E5E7EB"/>
                </a:solidFill>
                <a:latin typeface="Noto Sans SC"/>
                <a:ea typeface="Noto Sans SC"/>
                <a:cs typeface="Noto Sans SC"/>
                <a:sym typeface="Noto Sans SC"/>
              </a:rPr>
              <a:t>基于查询类型与历史反馈数据，实时动态调整两种检索方式的权重占比，实现结果精度与召回率的最佳平衡。</a:t>
            </a:r>
            <a:endParaRPr lang="en-US" sz="1100"/>
          </a:p>
        </p:txBody>
      </p:sp>
      <p:sp>
        <p:nvSpPr>
          <p:cNvPr id="14" name="AutoShape 14"/>
          <p:cNvSpPr/>
          <p:nvPr/>
        </p:nvSpPr>
        <p:spPr>
          <a:xfrm>
            <a:off x="762000" y="4826000"/>
            <a:ext cx="5080000" cy="1397000"/>
          </a:xfrm>
          <a:prstGeom prst="roundRect">
            <a:avLst>
              <a:gd name="adj" fmla="val 10909"/>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826000"/>
            <a:ext cx="76200" cy="1397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92200" y="5016500"/>
            <a:ext cx="508000" cy="508000"/>
          </a:xfrm>
          <a:prstGeom prst="rect">
            <a:avLst/>
          </a:prstGeom>
        </p:spPr>
      </p:pic>
      <p:sp>
        <p:nvSpPr>
          <p:cNvPr id="17" name="AutoShape 17"/>
          <p:cNvSpPr/>
          <p:nvPr/>
        </p:nvSpPr>
        <p:spPr>
          <a:xfrm>
            <a:off x="1854200" y="5016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智能 Query 改写</a:t>
            </a:r>
            <a:endParaRPr lang="en-US" sz="1100"/>
          </a:p>
        </p:txBody>
      </p:sp>
      <p:sp>
        <p:nvSpPr>
          <p:cNvPr id="18" name="AutoShape 18"/>
          <p:cNvSpPr/>
          <p:nvPr/>
        </p:nvSpPr>
        <p:spPr>
          <a:xfrm>
            <a:off x="1854200" y="5524500"/>
            <a:ext cx="368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E5E7EB"/>
                </a:solidFill>
                <a:latin typeface="Noto Sans SC"/>
                <a:ea typeface="Noto Sans SC"/>
                <a:cs typeface="Noto Sans SC"/>
                <a:sym typeface="Noto Sans SC"/>
              </a:rPr>
              <a:t>对用户的模糊口语化提问进行深层意图识别与自动规范化改写，显著提升复杂场景下的问题命中率。</a:t>
            </a:r>
            <a:endParaRPr lang="en-US" sz="1100"/>
          </a:p>
        </p:txBody>
      </p:sp>
      <p:pic>
        <p:nvPicPr>
          <p:cNvPr id="19" name="Picture 19"/>
          <p:cNvPicPr>
            <a:picLocks noChangeAspect="1"/>
          </p:cNvPicPr>
          <p:nvPr/>
        </p:nvPicPr>
        <p:blipFill>
          <a:blip r:embed="rId8"/>
          <a:srcRect l="19594" r="19594"/>
          <a:stretch>
            <a:fillRect/>
          </a:stretch>
        </p:blipFill>
        <p:spPr>
          <a:xfrm>
            <a:off x="6096000" y="1524000"/>
            <a:ext cx="5080000" cy="4699000"/>
          </a:xfrm>
          <a:prstGeom prst="roundRect">
            <a:avLst>
              <a:gd name="adj" fmla="val 4324"/>
            </a:avLst>
          </a:prstGeom>
          <a:noFill/>
          <a:ln w="25400" cap="flat" cmpd="sng">
            <a:noFill/>
            <a:prstDash val="solid"/>
            <a:round/>
          </a:ln>
          <a:effectLst>
            <a:outerShdw blurRad="190500" dist="76200" dir="5400000" algn="tl" rotWithShape="0">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核心能力三：面向BI的数据问答能力</a:t>
            </a:r>
            <a:endParaRPr lang="en-US" sz="1100"/>
          </a:p>
        </p:txBody>
      </p:sp>
      <p:sp>
        <p:nvSpPr>
          <p:cNvPr id="4" name="AutoShape 4"/>
          <p:cNvSpPr/>
          <p:nvPr/>
        </p:nvSpPr>
        <p:spPr>
          <a:xfrm>
            <a:off x="762000" y="1651000"/>
            <a:ext cx="4826000" cy="4572000"/>
          </a:xfrm>
          <a:prstGeom prst="roundRect">
            <a:avLst>
              <a:gd name="adj" fmla="val 4444"/>
            </a:avLst>
          </a:prstGeom>
          <a:solidFill>
            <a:srgbClr val="FFFFFF">
              <a:alpha val="5000"/>
            </a:srgbClr>
          </a:solidFill>
          <a:ln w="12700" cap="flat" cmpd="sng">
            <a:solidFill>
              <a:srgbClr val="38A169">
                <a:alpha val="30000"/>
              </a:srgbClr>
            </a:solidFill>
            <a:prstDash val="solid"/>
            <a:round/>
          </a:ln>
          <a:effectLst>
            <a:outerShdw blurRad="254000" dist="63500" dir="2700000" algn="tl" rotWithShape="0">
              <a:srgbClr val="000000">
                <a:alpha val="3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20117" r="20117"/>
          <a:stretch>
            <a:fillRect/>
          </a:stretch>
        </p:blipFill>
        <p:spPr>
          <a:xfrm>
            <a:off x="1016000" y="1905000"/>
            <a:ext cx="4318000" cy="4064000"/>
          </a:xfrm>
          <a:prstGeom prst="roundRect">
            <a:avLst>
              <a:gd name="adj" fmla="val 3750"/>
            </a:avLst>
          </a:prstGeom>
          <a:noFill/>
          <a:ln w="25400" cap="flat" cmpd="sng">
            <a:noFill/>
            <a:prstDash val="solid"/>
            <a:round/>
          </a:ln>
        </p:spPr>
      </p:pic>
      <p:sp>
        <p:nvSpPr>
          <p:cNvPr id="6" name="AutoShape 6"/>
          <p:cNvSpPr/>
          <p:nvPr/>
        </p:nvSpPr>
        <p:spPr>
          <a:xfrm>
            <a:off x="5842000" y="1651000"/>
            <a:ext cx="2667000" cy="2159000"/>
          </a:xfrm>
          <a:prstGeom prst="roundRect">
            <a:avLst>
              <a:gd name="adj" fmla="val 7058"/>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0" y="1905000"/>
            <a:ext cx="457200" cy="457200"/>
          </a:xfrm>
          <a:prstGeom prst="rect">
            <a:avLst/>
          </a:prstGeom>
        </p:spPr>
      </p:pic>
      <p:sp>
        <p:nvSpPr>
          <p:cNvPr id="8" name="AutoShape 8"/>
          <p:cNvSpPr/>
          <p:nvPr/>
        </p:nvSpPr>
        <p:spPr>
          <a:xfrm>
            <a:off x="6731000" y="19304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NL2SQL 翻译</a:t>
            </a:r>
            <a:endParaRPr lang="en-US" sz="1100"/>
          </a:p>
        </p:txBody>
      </p:sp>
      <p:sp>
        <p:nvSpPr>
          <p:cNvPr id="9" name="AutoShape 9"/>
          <p:cNvSpPr/>
          <p:nvPr/>
        </p:nvSpPr>
        <p:spPr>
          <a:xfrm>
            <a:off x="6096000" y="2540000"/>
            <a:ext cx="21590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E5E7EB">
                    <a:alpha val="80000"/>
                  </a:srgbClr>
                </a:solidFill>
                <a:latin typeface="Noto Sans SC"/>
                <a:ea typeface="Noto Sans SC"/>
                <a:cs typeface="Noto Sans SC"/>
                <a:sym typeface="Noto Sans SC"/>
              </a:rPr>
              <a:t>精准理解用户自然语言提问，自动生成底层数据库（SQL）或表格的查询指令。</a:t>
            </a:r>
            <a:endParaRPr lang="en-US" sz="1100"/>
          </a:p>
        </p:txBody>
      </p:sp>
      <p:sp>
        <p:nvSpPr>
          <p:cNvPr id="10" name="AutoShape 10"/>
          <p:cNvSpPr/>
          <p:nvPr/>
        </p:nvSpPr>
        <p:spPr>
          <a:xfrm>
            <a:off x="8763000" y="1651000"/>
            <a:ext cx="2667000" cy="2159000"/>
          </a:xfrm>
          <a:prstGeom prst="roundRect">
            <a:avLst>
              <a:gd name="adj" fmla="val 7058"/>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17000" y="1905000"/>
            <a:ext cx="457200" cy="457200"/>
          </a:xfrm>
          <a:prstGeom prst="rect">
            <a:avLst/>
          </a:prstGeom>
        </p:spPr>
      </p:pic>
      <p:sp>
        <p:nvSpPr>
          <p:cNvPr id="12" name="AutoShape 12"/>
          <p:cNvSpPr/>
          <p:nvPr/>
        </p:nvSpPr>
        <p:spPr>
          <a:xfrm>
            <a:off x="9652000" y="19304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深度结构理解</a:t>
            </a:r>
            <a:endParaRPr lang="en-US" sz="1100"/>
          </a:p>
        </p:txBody>
      </p:sp>
      <p:sp>
        <p:nvSpPr>
          <p:cNvPr id="13" name="AutoShape 13"/>
          <p:cNvSpPr/>
          <p:nvPr/>
        </p:nvSpPr>
        <p:spPr>
          <a:xfrm>
            <a:off x="9017000" y="2540000"/>
            <a:ext cx="21590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E5E7EB">
                    <a:alpha val="80000"/>
                  </a:srgbClr>
                </a:solidFill>
                <a:latin typeface="Noto Sans SC"/>
                <a:ea typeface="Noto Sans SC"/>
                <a:cs typeface="Noto Sans SC"/>
                <a:sym typeface="Noto Sans SC"/>
              </a:rPr>
              <a:t>不仅读取单元格数值，更能深度解析表格的行列关联、汇总逻辑与多维数据结构。</a:t>
            </a:r>
            <a:endParaRPr lang="en-US" sz="1100"/>
          </a:p>
        </p:txBody>
      </p:sp>
      <p:sp>
        <p:nvSpPr>
          <p:cNvPr id="14" name="AutoShape 14"/>
          <p:cNvSpPr/>
          <p:nvPr/>
        </p:nvSpPr>
        <p:spPr>
          <a:xfrm>
            <a:off x="5842000" y="3937000"/>
            <a:ext cx="2667000" cy="2159000"/>
          </a:xfrm>
          <a:prstGeom prst="roundRect">
            <a:avLst>
              <a:gd name="adj" fmla="val 7058"/>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0" y="4191000"/>
            <a:ext cx="457200" cy="457200"/>
          </a:xfrm>
          <a:prstGeom prst="rect">
            <a:avLst/>
          </a:prstGeom>
        </p:spPr>
      </p:pic>
      <p:sp>
        <p:nvSpPr>
          <p:cNvPr id="16" name="AutoShape 16"/>
          <p:cNvSpPr/>
          <p:nvPr/>
        </p:nvSpPr>
        <p:spPr>
          <a:xfrm>
            <a:off x="6731000" y="42164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智能洞察归因</a:t>
            </a:r>
            <a:endParaRPr lang="en-US" sz="1100"/>
          </a:p>
        </p:txBody>
      </p:sp>
      <p:sp>
        <p:nvSpPr>
          <p:cNvPr id="17" name="AutoShape 17"/>
          <p:cNvSpPr/>
          <p:nvPr/>
        </p:nvSpPr>
        <p:spPr>
          <a:xfrm>
            <a:off x="6096000" y="4826000"/>
            <a:ext cx="21590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E5E7EB">
                    <a:alpha val="80000"/>
                  </a:srgbClr>
                </a:solidFill>
                <a:latin typeface="Noto Sans SC"/>
                <a:ea typeface="Noto Sans SC"/>
                <a:cs typeface="Noto Sans SC"/>
                <a:sym typeface="Noto Sans SC"/>
              </a:rPr>
              <a:t>拒绝冰冷数字，结合业务上下文自动生成数据解读，分析趋势背后的成因与结论。</a:t>
            </a:r>
            <a:endParaRPr lang="en-US" sz="1100"/>
          </a:p>
        </p:txBody>
      </p:sp>
      <p:sp>
        <p:nvSpPr>
          <p:cNvPr id="18" name="AutoShape 18"/>
          <p:cNvSpPr/>
          <p:nvPr/>
        </p:nvSpPr>
        <p:spPr>
          <a:xfrm>
            <a:off x="8763000" y="3937000"/>
            <a:ext cx="2667000" cy="2159000"/>
          </a:xfrm>
          <a:prstGeom prst="roundRect">
            <a:avLst>
              <a:gd name="adj" fmla="val 7058"/>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017000" y="4191000"/>
            <a:ext cx="457200" cy="457200"/>
          </a:xfrm>
          <a:prstGeom prst="rect">
            <a:avLst/>
          </a:prstGeom>
        </p:spPr>
      </p:pic>
      <p:sp>
        <p:nvSpPr>
          <p:cNvPr id="20" name="AutoShape 20"/>
          <p:cNvSpPr/>
          <p:nvPr/>
        </p:nvSpPr>
        <p:spPr>
          <a:xfrm>
            <a:off x="9652000" y="42164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BI 闭环联动</a:t>
            </a:r>
            <a:endParaRPr lang="en-US" sz="1100"/>
          </a:p>
        </p:txBody>
      </p:sp>
      <p:sp>
        <p:nvSpPr>
          <p:cNvPr id="21" name="AutoShape 21"/>
          <p:cNvSpPr/>
          <p:nvPr/>
        </p:nvSpPr>
        <p:spPr>
          <a:xfrm>
            <a:off x="9017000" y="4826000"/>
            <a:ext cx="21590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E5E7EB">
                    <a:alpha val="80000"/>
                  </a:srgbClr>
                </a:solidFill>
                <a:latin typeface="Noto Sans SC"/>
                <a:ea typeface="Noto Sans SC"/>
                <a:cs typeface="Noto Sans SC"/>
                <a:sym typeface="Noto Sans SC"/>
              </a:rPr>
              <a:t>查询结果直接生成可视化图表，并推送至主流BI工具面板，实现从问答到分析的闭环。</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核心能力四：多模态数据处理</a:t>
            </a:r>
            <a:endParaRPr lang="en-US" sz="1100"/>
          </a:p>
        </p:txBody>
      </p:sp>
      <p:sp>
        <p:nvSpPr>
          <p:cNvPr id="4" name="AutoShape 4"/>
          <p:cNvSpPr/>
          <p:nvPr/>
        </p:nvSpPr>
        <p:spPr>
          <a:xfrm>
            <a:off x="762000" y="1524000"/>
            <a:ext cx="5080000" cy="1143000"/>
          </a:xfrm>
          <a:prstGeom prst="roundRect">
            <a:avLst>
              <a:gd name="adj" fmla="val 13333"/>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143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1778000"/>
            <a:ext cx="508000" cy="508000"/>
          </a:xfrm>
          <a:prstGeom prst="rect">
            <a:avLst/>
          </a:prstGeom>
        </p:spPr>
      </p:pic>
      <p:sp>
        <p:nvSpPr>
          <p:cNvPr id="7" name="AutoShape 7"/>
          <p:cNvSpPr/>
          <p:nvPr/>
        </p:nvSpPr>
        <p:spPr>
          <a:xfrm>
            <a:off x="1841500" y="1714500"/>
            <a:ext cx="381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PDF/Word 文档解析</a:t>
            </a:r>
            <a:endParaRPr lang="en-US" sz="1100"/>
          </a:p>
        </p:txBody>
      </p:sp>
      <p:sp>
        <p:nvSpPr>
          <p:cNvPr id="8" name="AutoShape 8"/>
          <p:cNvSpPr/>
          <p:nvPr/>
        </p:nvSpPr>
        <p:spPr>
          <a:xfrm>
            <a:off x="1841500" y="2159000"/>
            <a:ext cx="3746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2E8F0">
                    <a:alpha val="80000"/>
                  </a:srgbClr>
                </a:solidFill>
                <a:latin typeface="Noto Sans SC"/>
                <a:ea typeface="Noto Sans SC"/>
                <a:cs typeface="Noto Sans SC"/>
                <a:sym typeface="Noto Sans SC"/>
              </a:rPr>
              <a:t>智能解析文本、图片和表格，进行深层语义化切片，还原文档逻辑结构。</a:t>
            </a:r>
            <a:endParaRPr lang="en-US" sz="1100"/>
          </a:p>
        </p:txBody>
      </p:sp>
      <p:sp>
        <p:nvSpPr>
          <p:cNvPr id="9" name="AutoShape 9"/>
          <p:cNvSpPr/>
          <p:nvPr/>
        </p:nvSpPr>
        <p:spPr>
          <a:xfrm>
            <a:off x="762000" y="2794000"/>
            <a:ext cx="5080000" cy="1143000"/>
          </a:xfrm>
          <a:prstGeom prst="roundRect">
            <a:avLst>
              <a:gd name="adj" fmla="val 13333"/>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762000" y="2794000"/>
            <a:ext cx="76200" cy="1143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3048000"/>
            <a:ext cx="508000" cy="508000"/>
          </a:xfrm>
          <a:prstGeom prst="rect">
            <a:avLst/>
          </a:prstGeom>
        </p:spPr>
      </p:pic>
      <p:sp>
        <p:nvSpPr>
          <p:cNvPr id="12" name="AutoShape 12"/>
          <p:cNvSpPr/>
          <p:nvPr/>
        </p:nvSpPr>
        <p:spPr>
          <a:xfrm>
            <a:off x="1841500" y="2984500"/>
            <a:ext cx="381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Excel/CSV 表格深度理解</a:t>
            </a:r>
            <a:endParaRPr lang="en-US" sz="1100"/>
          </a:p>
        </p:txBody>
      </p:sp>
      <p:sp>
        <p:nvSpPr>
          <p:cNvPr id="13" name="AutoShape 13"/>
          <p:cNvSpPr/>
          <p:nvPr/>
        </p:nvSpPr>
        <p:spPr>
          <a:xfrm>
            <a:off x="1841500" y="3429000"/>
            <a:ext cx="3746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2E8F0">
                    <a:alpha val="80000"/>
                  </a:srgbClr>
                </a:solidFill>
                <a:latin typeface="Noto Sans SC"/>
                <a:ea typeface="Noto Sans SC"/>
                <a:cs typeface="Noto Sans SC"/>
                <a:sym typeface="Noto Sans SC"/>
              </a:rPr>
              <a:t>精准识别表头、合并单元格与数据透视关系，实现复杂表格数据的结构化提取。</a:t>
            </a:r>
            <a:endParaRPr lang="en-US" sz="1100"/>
          </a:p>
        </p:txBody>
      </p:sp>
      <p:sp>
        <p:nvSpPr>
          <p:cNvPr id="14" name="AutoShape 14"/>
          <p:cNvSpPr/>
          <p:nvPr/>
        </p:nvSpPr>
        <p:spPr>
          <a:xfrm>
            <a:off x="762000" y="4064000"/>
            <a:ext cx="5080000" cy="1143000"/>
          </a:xfrm>
          <a:prstGeom prst="roundRect">
            <a:avLst>
              <a:gd name="adj" fmla="val 13333"/>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064000"/>
            <a:ext cx="76200" cy="1143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79500" y="4318000"/>
            <a:ext cx="508000" cy="508000"/>
          </a:xfrm>
          <a:prstGeom prst="rect">
            <a:avLst/>
          </a:prstGeom>
        </p:spPr>
      </p:pic>
      <p:sp>
        <p:nvSpPr>
          <p:cNvPr id="17" name="AutoShape 17"/>
          <p:cNvSpPr/>
          <p:nvPr/>
        </p:nvSpPr>
        <p:spPr>
          <a:xfrm>
            <a:off x="1841500" y="4254500"/>
            <a:ext cx="381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PPT 演示文稿摘要生成</a:t>
            </a:r>
            <a:endParaRPr lang="en-US" sz="1100"/>
          </a:p>
        </p:txBody>
      </p:sp>
      <p:sp>
        <p:nvSpPr>
          <p:cNvPr id="18" name="AutoShape 18"/>
          <p:cNvSpPr/>
          <p:nvPr/>
        </p:nvSpPr>
        <p:spPr>
          <a:xfrm>
            <a:off x="1841500" y="4699000"/>
            <a:ext cx="3746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2E8F0">
                    <a:alpha val="80000"/>
                  </a:srgbClr>
                </a:solidFill>
                <a:latin typeface="Noto Sans SC"/>
                <a:ea typeface="Noto Sans SC"/>
                <a:cs typeface="Noto Sans SC"/>
                <a:sym typeface="Noto Sans SC"/>
              </a:rPr>
              <a:t>自动提取每页核心标题、图表与关键结论，快速生成结构化的内容摘要。</a:t>
            </a:r>
            <a:endParaRPr lang="en-US" sz="1100"/>
          </a:p>
        </p:txBody>
      </p:sp>
      <p:sp>
        <p:nvSpPr>
          <p:cNvPr id="19" name="AutoShape 19"/>
          <p:cNvSpPr/>
          <p:nvPr/>
        </p:nvSpPr>
        <p:spPr>
          <a:xfrm>
            <a:off x="762000" y="5334000"/>
            <a:ext cx="5080000" cy="1143000"/>
          </a:xfrm>
          <a:prstGeom prst="roundRect">
            <a:avLst>
              <a:gd name="adj" fmla="val 13333"/>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5334000"/>
            <a:ext cx="76200" cy="1143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79500" y="5588000"/>
            <a:ext cx="508000" cy="508000"/>
          </a:xfrm>
          <a:prstGeom prst="rect">
            <a:avLst/>
          </a:prstGeom>
        </p:spPr>
      </p:pic>
      <p:sp>
        <p:nvSpPr>
          <p:cNvPr id="22" name="AutoShape 22"/>
          <p:cNvSpPr/>
          <p:nvPr/>
        </p:nvSpPr>
        <p:spPr>
          <a:xfrm>
            <a:off x="1841500" y="5524500"/>
            <a:ext cx="381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动态优先级处理策略</a:t>
            </a:r>
            <a:endParaRPr lang="en-US" sz="1100"/>
          </a:p>
        </p:txBody>
      </p:sp>
      <p:sp>
        <p:nvSpPr>
          <p:cNvPr id="23" name="AutoShape 23"/>
          <p:cNvSpPr/>
          <p:nvPr/>
        </p:nvSpPr>
        <p:spPr>
          <a:xfrm>
            <a:off x="1841500" y="5969000"/>
            <a:ext cx="3746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E2E8F0">
                    <a:alpha val="80000"/>
                  </a:srgbClr>
                </a:solidFill>
                <a:latin typeface="Noto Sans SC"/>
                <a:ea typeface="Noto Sans SC"/>
                <a:cs typeface="Noto Sans SC"/>
                <a:sym typeface="Noto Sans SC"/>
              </a:rPr>
              <a:t>基于数据类型与业务紧急度，智能设定资源分配权重与数据更新频率。</a:t>
            </a:r>
            <a:endParaRPr lang="en-US" sz="1100"/>
          </a:p>
        </p:txBody>
      </p:sp>
      <p:pic>
        <p:nvPicPr>
          <p:cNvPr id="24" name="Picture 24"/>
          <p:cNvPicPr>
            <a:picLocks noChangeAspect="1"/>
          </p:cNvPicPr>
          <p:nvPr/>
        </p:nvPicPr>
        <p:blipFill>
          <a:blip r:embed="rId10"/>
          <a:srcRect l="19711" r="19711"/>
          <a:stretch>
            <a:fillRect/>
          </a:stretch>
        </p:blipFill>
        <p:spPr>
          <a:xfrm>
            <a:off x="6096000" y="1524000"/>
            <a:ext cx="5334000" cy="4953000"/>
          </a:xfrm>
          <a:prstGeom prst="roundRect">
            <a:avLst>
              <a:gd name="adj" fmla="val 4102"/>
            </a:avLst>
          </a:prstGeom>
          <a:noFill/>
          <a:ln w="25400" cap="flat" cmpd="sng">
            <a:noFill/>
            <a:prstDash val="solid"/>
            <a:round/>
          </a:ln>
          <a:effectLst>
            <a:outerShdw blurRad="444500" dist="190500" dir="2700000" algn="tl" rotWithShape="0">
              <a:srgbClr val="000000">
                <a:alpha val="2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可量化的业务价值提升</a:t>
            </a:r>
            <a:endParaRPr lang="en-US" sz="1100"/>
          </a:p>
        </p:txBody>
      </p:sp>
      <p:sp>
        <p:nvSpPr>
          <p:cNvPr id="4" name="AutoShape 4"/>
          <p:cNvSpPr/>
          <p:nvPr/>
        </p:nvSpPr>
        <p:spPr>
          <a:xfrm>
            <a:off x="762000" y="1651000"/>
            <a:ext cx="5207000" cy="2159000"/>
          </a:xfrm>
          <a:prstGeom prst="roundRect">
            <a:avLst>
              <a:gd name="adj" fmla="val 9411"/>
            </a:avLst>
          </a:prstGeom>
          <a:solidFill>
            <a:srgbClr val="FFFFFF">
              <a:alpha val="8000"/>
            </a:srgbClr>
          </a:solidFill>
          <a:ln w="25400" cap="flat" cmpd="sng">
            <a:noFill/>
            <a:prstDash val="solid"/>
            <a:round/>
          </a:ln>
          <a:effectLst>
            <a:outerShdw blurRad="190500" dist="63500" dir="2700000" algn="tl" rotWithShape="0">
              <a:srgbClr val="000000">
                <a:alpha val="20000"/>
              </a:srgbClr>
            </a:outerShdw>
          </a:effectLst>
        </p:spPr>
        <p:txBody>
          <a:bodyPr vert="horz" wrap="square" lIns="63500" tIns="63500" rIns="63500" bIns="63500" rtlCol="0" anchor="ctr"/>
          <a:lstStyle/>
          <a:p>
            <a:pPr algn="ctr">
              <a:defRPr/>
            </a:pPr>
          </a:p>
        </p:txBody>
      </p:sp>
      <p:sp>
        <p:nvSpPr>
          <p:cNvPr id="5" name="AutoShape 5"/>
          <p:cNvSpPr/>
          <p:nvPr/>
        </p:nvSpPr>
        <p:spPr>
          <a:xfrm>
            <a:off x="1016000" y="2222500"/>
            <a:ext cx="1016000" cy="10160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70000" y="2476500"/>
            <a:ext cx="508000" cy="508000"/>
          </a:xfrm>
          <a:prstGeom prst="rect">
            <a:avLst/>
          </a:prstGeom>
        </p:spPr>
      </p:pic>
      <p:sp>
        <p:nvSpPr>
          <p:cNvPr id="7" name="AutoShape 7"/>
          <p:cNvSpPr/>
          <p:nvPr/>
        </p:nvSpPr>
        <p:spPr>
          <a:xfrm>
            <a:off x="2413000" y="19050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alpha val="90196"/>
                  </a:srgbClr>
                </a:solidFill>
                <a:latin typeface="Noto Sans SC"/>
                <a:ea typeface="Noto Sans SC"/>
                <a:cs typeface="Noto Sans SC"/>
                <a:sym typeface="Noto Sans SC"/>
              </a:rPr>
              <a:t>查询效率提升</a:t>
            </a:r>
            <a:endParaRPr lang="en-US" sz="1100"/>
          </a:p>
        </p:txBody>
      </p:sp>
      <p:sp>
        <p:nvSpPr>
          <p:cNvPr id="8" name="AutoShape 8"/>
          <p:cNvSpPr/>
          <p:nvPr/>
        </p:nvSpPr>
        <p:spPr>
          <a:xfrm>
            <a:off x="2413000" y="2413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200" b="1" i="0" u="none" strike="noStrike">
                <a:solidFill>
                  <a:srgbClr val="38A169"/>
                </a:solidFill>
                <a:latin typeface="Noto Sans SC"/>
                <a:ea typeface="Noto Sans SC"/>
                <a:cs typeface="Noto Sans SC"/>
                <a:sym typeface="Noto Sans SC"/>
              </a:rPr>
              <a:t>80%</a:t>
            </a:r>
            <a:endParaRPr lang="en-US" sz="1100"/>
          </a:p>
        </p:txBody>
      </p:sp>
      <p:sp>
        <p:nvSpPr>
          <p:cNvPr id="9" name="AutoShape 9"/>
          <p:cNvSpPr/>
          <p:nvPr/>
        </p:nvSpPr>
        <p:spPr>
          <a:xfrm>
            <a:off x="2413000" y="3175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FFFFFF">
                    <a:alpha val="70196"/>
                  </a:srgbClr>
                </a:solidFill>
                <a:latin typeface="Noto Sans SC"/>
                <a:ea typeface="Noto Sans SC"/>
                <a:cs typeface="Noto Sans SC"/>
                <a:sym typeface="Noto Sans SC"/>
              </a:rPr>
              <a:t>信息获取平均耗时从 [数小时] 缩短至 [2秒内]</a:t>
            </a:r>
            <a:endParaRPr lang="en-US" sz="1100"/>
          </a:p>
        </p:txBody>
      </p:sp>
      <p:sp>
        <p:nvSpPr>
          <p:cNvPr id="10" name="AutoShape 10"/>
          <p:cNvSpPr/>
          <p:nvPr/>
        </p:nvSpPr>
        <p:spPr>
          <a:xfrm>
            <a:off x="6223000" y="1651000"/>
            <a:ext cx="5207000" cy="2159000"/>
          </a:xfrm>
          <a:prstGeom prst="roundRect">
            <a:avLst>
              <a:gd name="adj" fmla="val 9411"/>
            </a:avLst>
          </a:prstGeom>
          <a:solidFill>
            <a:srgbClr val="FFFFFF">
              <a:alpha val="8000"/>
            </a:srgbClr>
          </a:solidFill>
          <a:ln w="25400" cap="flat" cmpd="sng">
            <a:noFill/>
            <a:prstDash val="solid"/>
            <a:round/>
          </a:ln>
          <a:effectLst>
            <a:outerShdw blurRad="190500" dist="63500" dir="2700000" algn="tl" rotWithShape="0">
              <a:srgbClr val="000000">
                <a:alpha val="20000"/>
              </a:srgbClr>
            </a:outerShdw>
          </a:effectLst>
        </p:spPr>
        <p:txBody>
          <a:bodyPr vert="horz" wrap="square" lIns="63500" tIns="63500" rIns="63500" bIns="63500" rtlCol="0" anchor="ctr"/>
          <a:lstStyle/>
          <a:p>
            <a:pPr algn="ctr">
              <a:defRPr/>
            </a:pPr>
          </a:p>
        </p:txBody>
      </p:sp>
      <p:sp>
        <p:nvSpPr>
          <p:cNvPr id="11" name="AutoShape 11"/>
          <p:cNvSpPr/>
          <p:nvPr/>
        </p:nvSpPr>
        <p:spPr>
          <a:xfrm>
            <a:off x="6477000" y="2222500"/>
            <a:ext cx="1016000" cy="10160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31000" y="2476500"/>
            <a:ext cx="508000" cy="508000"/>
          </a:xfrm>
          <a:prstGeom prst="rect">
            <a:avLst/>
          </a:prstGeom>
        </p:spPr>
      </p:pic>
      <p:sp>
        <p:nvSpPr>
          <p:cNvPr id="13" name="AutoShape 13"/>
          <p:cNvSpPr/>
          <p:nvPr/>
        </p:nvSpPr>
        <p:spPr>
          <a:xfrm>
            <a:off x="7874000" y="19050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alpha val="90196"/>
                  </a:srgbClr>
                </a:solidFill>
                <a:latin typeface="Noto Sans SC"/>
                <a:ea typeface="Noto Sans SC"/>
                <a:cs typeface="Noto Sans SC"/>
                <a:sym typeface="Noto Sans SC"/>
              </a:rPr>
              <a:t>人工成本降低</a:t>
            </a:r>
            <a:endParaRPr lang="en-US" sz="1100"/>
          </a:p>
        </p:txBody>
      </p:sp>
      <p:sp>
        <p:nvSpPr>
          <p:cNvPr id="14" name="AutoShape 14"/>
          <p:cNvSpPr/>
          <p:nvPr/>
        </p:nvSpPr>
        <p:spPr>
          <a:xfrm>
            <a:off x="7874000" y="2413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200" b="1" i="0" u="none" strike="noStrike">
                <a:solidFill>
                  <a:srgbClr val="38A169"/>
                </a:solidFill>
                <a:latin typeface="Noto Sans SC"/>
                <a:ea typeface="Noto Sans SC"/>
                <a:cs typeface="Noto Sans SC"/>
                <a:sym typeface="Noto Sans SC"/>
              </a:rPr>
              <a:t>60%</a:t>
            </a:r>
            <a:endParaRPr lang="en-US" sz="1100"/>
          </a:p>
        </p:txBody>
      </p:sp>
      <p:sp>
        <p:nvSpPr>
          <p:cNvPr id="15" name="AutoShape 15"/>
          <p:cNvSpPr/>
          <p:nvPr/>
        </p:nvSpPr>
        <p:spPr>
          <a:xfrm>
            <a:off x="7874000" y="3175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FFFFFF">
                    <a:alpha val="70196"/>
                  </a:srgbClr>
                </a:solidFill>
                <a:latin typeface="Noto Sans SC"/>
                <a:ea typeface="Noto Sans SC"/>
                <a:cs typeface="Noto Sans SC"/>
                <a:sym typeface="Noto Sans SC"/>
              </a:rPr>
              <a:t>大幅减少数据提取和报表制作的重复性人工工作量</a:t>
            </a:r>
            <a:endParaRPr lang="en-US" sz="1100"/>
          </a:p>
        </p:txBody>
      </p:sp>
      <p:sp>
        <p:nvSpPr>
          <p:cNvPr id="16" name="AutoShape 16"/>
          <p:cNvSpPr/>
          <p:nvPr/>
        </p:nvSpPr>
        <p:spPr>
          <a:xfrm>
            <a:off x="762000" y="4064000"/>
            <a:ext cx="5207000" cy="2159000"/>
          </a:xfrm>
          <a:prstGeom prst="roundRect">
            <a:avLst>
              <a:gd name="adj" fmla="val 9411"/>
            </a:avLst>
          </a:prstGeom>
          <a:solidFill>
            <a:srgbClr val="FFFFFF">
              <a:alpha val="8000"/>
            </a:srgbClr>
          </a:solidFill>
          <a:ln w="25400" cap="flat" cmpd="sng">
            <a:noFill/>
            <a:prstDash val="solid"/>
            <a:round/>
          </a:ln>
          <a:effectLst>
            <a:outerShdw blurRad="190500" dist="63500" dir="2700000" algn="tl" rotWithShape="0">
              <a:srgbClr val="000000">
                <a:alpha val="20000"/>
              </a:srgbClr>
            </a:outerShdw>
          </a:effectLst>
        </p:spPr>
        <p:txBody>
          <a:bodyPr vert="horz" wrap="square" lIns="63500" tIns="63500" rIns="63500" bIns="63500" rtlCol="0" anchor="ctr"/>
          <a:lstStyle/>
          <a:p>
            <a:pPr algn="ctr">
              <a:defRPr/>
            </a:pPr>
          </a:p>
        </p:txBody>
      </p:sp>
      <p:sp>
        <p:nvSpPr>
          <p:cNvPr id="17" name="AutoShape 17"/>
          <p:cNvSpPr/>
          <p:nvPr/>
        </p:nvSpPr>
        <p:spPr>
          <a:xfrm>
            <a:off x="1016000" y="4635500"/>
            <a:ext cx="1016000" cy="10160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0000" y="4889500"/>
            <a:ext cx="508000" cy="508000"/>
          </a:xfrm>
          <a:prstGeom prst="rect">
            <a:avLst/>
          </a:prstGeom>
        </p:spPr>
      </p:pic>
      <p:sp>
        <p:nvSpPr>
          <p:cNvPr id="19" name="AutoShape 19"/>
          <p:cNvSpPr/>
          <p:nvPr/>
        </p:nvSpPr>
        <p:spPr>
          <a:xfrm>
            <a:off x="2413000" y="43180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alpha val="90196"/>
                  </a:srgbClr>
                </a:solidFill>
                <a:latin typeface="Noto Sans SC"/>
                <a:ea typeface="Noto Sans SC"/>
                <a:cs typeface="Noto Sans SC"/>
                <a:sym typeface="Noto Sans SC"/>
              </a:rPr>
              <a:t>决策响应速度</a:t>
            </a:r>
            <a:endParaRPr lang="en-US" sz="1100"/>
          </a:p>
        </p:txBody>
      </p:sp>
      <p:sp>
        <p:nvSpPr>
          <p:cNvPr id="20" name="AutoShape 20"/>
          <p:cNvSpPr/>
          <p:nvPr/>
        </p:nvSpPr>
        <p:spPr>
          <a:xfrm>
            <a:off x="2413000" y="4826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38A169"/>
                </a:solidFill>
                <a:latin typeface="Noto Sans SC"/>
                <a:ea typeface="Noto Sans SC"/>
                <a:cs typeface="Noto Sans SC"/>
                <a:sym typeface="Noto Sans SC"/>
              </a:rPr>
              <a:t>3</a:t>
            </a:r>
            <a:r>
              <a:rPr lang="zh-CN" altLang="en-US" sz="3600" b="1" i="0" u="none" strike="noStrike">
                <a:solidFill>
                  <a:srgbClr val="38A169"/>
                </a:solidFill>
                <a:latin typeface="Noto Sans SC"/>
                <a:ea typeface="Noto Sans SC"/>
                <a:cs typeface="Noto Sans SC"/>
                <a:sym typeface="Noto Sans SC"/>
              </a:rPr>
              <a:t>倍</a:t>
            </a:r>
            <a:r>
              <a:rPr lang="en-US" altLang="zh-CN" sz="3600" b="1" i="0" u="none" strike="noStrike">
                <a:solidFill>
                  <a:srgbClr val="38A169"/>
                </a:solidFill>
                <a:latin typeface="Noto Sans SC"/>
                <a:ea typeface="Noto Sans SC"/>
                <a:cs typeface="Noto Sans SC"/>
                <a:sym typeface="Noto Sans SC"/>
              </a:rPr>
              <a:t>+</a:t>
            </a:r>
            <a:endParaRPr lang="en-US" altLang="zh-CN" sz="3600" b="1" i="0" u="none" strike="noStrike">
              <a:solidFill>
                <a:srgbClr val="38A169"/>
              </a:solidFill>
              <a:latin typeface="Noto Sans SC"/>
              <a:ea typeface="Noto Sans SC"/>
              <a:cs typeface="Noto Sans SC"/>
              <a:sym typeface="Noto Sans SC"/>
            </a:endParaRPr>
          </a:p>
        </p:txBody>
      </p:sp>
      <p:sp>
        <p:nvSpPr>
          <p:cNvPr id="21" name="AutoShape 21"/>
          <p:cNvSpPr/>
          <p:nvPr/>
        </p:nvSpPr>
        <p:spPr>
          <a:xfrm>
            <a:off x="2413000" y="5588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FFFFFF">
                    <a:alpha val="70196"/>
                  </a:srgbClr>
                </a:solidFill>
                <a:latin typeface="Noto Sans SC"/>
                <a:ea typeface="Noto Sans SC"/>
                <a:cs typeface="Noto Sans SC"/>
                <a:sym typeface="Noto Sans SC"/>
              </a:rPr>
              <a:t>管理层获取关键业务数据的时间显著缩短，决策更敏捷</a:t>
            </a:r>
            <a:endParaRPr lang="en-US" sz="1100"/>
          </a:p>
        </p:txBody>
      </p:sp>
      <p:sp>
        <p:nvSpPr>
          <p:cNvPr id="22" name="AutoShape 22"/>
          <p:cNvSpPr/>
          <p:nvPr/>
        </p:nvSpPr>
        <p:spPr>
          <a:xfrm>
            <a:off x="6223000" y="4064000"/>
            <a:ext cx="5207000" cy="2159000"/>
          </a:xfrm>
          <a:prstGeom prst="roundRect">
            <a:avLst>
              <a:gd name="adj" fmla="val 9411"/>
            </a:avLst>
          </a:prstGeom>
          <a:solidFill>
            <a:srgbClr val="FFFFFF">
              <a:alpha val="8000"/>
            </a:srgbClr>
          </a:solidFill>
          <a:ln w="25400" cap="flat" cmpd="sng">
            <a:noFill/>
            <a:prstDash val="solid"/>
            <a:round/>
          </a:ln>
          <a:effectLst>
            <a:outerShdw blurRad="190500" dist="63500" dir="2700000" algn="tl" rotWithShape="0">
              <a:srgbClr val="000000">
                <a:alpha val="20000"/>
              </a:srgbClr>
            </a:outerShdw>
          </a:effectLst>
        </p:spPr>
        <p:txBody>
          <a:bodyPr vert="horz" wrap="square" lIns="63500" tIns="63500" rIns="63500" bIns="63500" rtlCol="0" anchor="ctr"/>
          <a:lstStyle/>
          <a:p>
            <a:pPr algn="ctr">
              <a:defRPr/>
            </a:pPr>
          </a:p>
        </p:txBody>
      </p:sp>
      <p:sp>
        <p:nvSpPr>
          <p:cNvPr id="23" name="AutoShape 23"/>
          <p:cNvSpPr/>
          <p:nvPr/>
        </p:nvSpPr>
        <p:spPr>
          <a:xfrm>
            <a:off x="6477000" y="4635500"/>
            <a:ext cx="1016000" cy="10160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731000" y="4889500"/>
            <a:ext cx="508000" cy="508000"/>
          </a:xfrm>
          <a:prstGeom prst="rect">
            <a:avLst/>
          </a:prstGeom>
        </p:spPr>
      </p:pic>
      <p:sp>
        <p:nvSpPr>
          <p:cNvPr id="25" name="AutoShape 25"/>
          <p:cNvSpPr/>
          <p:nvPr/>
        </p:nvSpPr>
        <p:spPr>
          <a:xfrm>
            <a:off x="7874000" y="4318000"/>
            <a:ext cx="3302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alpha val="90196"/>
                  </a:srgbClr>
                </a:solidFill>
                <a:latin typeface="Noto Sans SC"/>
                <a:ea typeface="Noto Sans SC"/>
                <a:cs typeface="Noto Sans SC"/>
                <a:sym typeface="Noto Sans SC"/>
              </a:rPr>
              <a:t>查询准确率</a:t>
            </a:r>
            <a:endParaRPr lang="en-US" sz="1100"/>
          </a:p>
        </p:txBody>
      </p:sp>
      <p:sp>
        <p:nvSpPr>
          <p:cNvPr id="26" name="AutoShape 26"/>
          <p:cNvSpPr/>
          <p:nvPr/>
        </p:nvSpPr>
        <p:spPr>
          <a:xfrm>
            <a:off x="7874000" y="4826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200" b="1" i="0" u="none" strike="noStrike">
                <a:solidFill>
                  <a:srgbClr val="38A169"/>
                </a:solidFill>
                <a:latin typeface="Noto Sans SC"/>
                <a:ea typeface="Noto Sans SC"/>
                <a:cs typeface="Noto Sans SC"/>
                <a:sym typeface="Noto Sans SC"/>
              </a:rPr>
              <a:t>90%</a:t>
            </a:r>
            <a:endParaRPr lang="en-US" sz="1100"/>
          </a:p>
        </p:txBody>
      </p:sp>
      <p:sp>
        <p:nvSpPr>
          <p:cNvPr id="27" name="AutoShape 27"/>
          <p:cNvSpPr/>
          <p:nvPr/>
        </p:nvSpPr>
        <p:spPr>
          <a:xfrm>
            <a:off x="7874000" y="5588000"/>
            <a:ext cx="3302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FFFFFF">
                    <a:alpha val="70196"/>
                  </a:srgbClr>
                </a:solidFill>
                <a:latin typeface="Noto Sans SC"/>
                <a:ea typeface="Noto Sans SC"/>
                <a:cs typeface="Noto Sans SC"/>
                <a:sym typeface="Noto Sans SC"/>
              </a:rPr>
              <a:t>核心业务场景下首次查询回答准确率达到预期标准</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满足企业级需求的部署与安全策略</a:t>
            </a:r>
            <a:endParaRPr lang="en-US" sz="1100"/>
          </a:p>
        </p:txBody>
      </p:sp>
      <p:sp>
        <p:nvSpPr>
          <p:cNvPr id="4" name="AutoShape 4"/>
          <p:cNvSpPr/>
          <p:nvPr/>
        </p:nvSpPr>
        <p:spPr>
          <a:xfrm>
            <a:off x="762000" y="1651000"/>
            <a:ext cx="4572000" cy="4318000"/>
          </a:xfrm>
          <a:prstGeom prst="roundRect">
            <a:avLst>
              <a:gd name="adj" fmla="val 4705"/>
            </a:avLst>
          </a:prstGeom>
          <a:solidFill>
            <a:srgbClr val="FFFFFF">
              <a:alpha val="5000"/>
            </a:srgbClr>
          </a:solidFill>
          <a:ln w="12700" cap="flat" cmpd="sng">
            <a:solidFill>
              <a:srgbClr val="38A169">
                <a:alpha val="40000"/>
              </a:srgbClr>
            </a:solidFill>
            <a:prstDash val="solid"/>
            <a:round/>
          </a:ln>
          <a:effectLst>
            <a:outerShdw blurRad="190500" dist="63500" dir="2700000" algn="tl" rotWithShape="0">
              <a:srgbClr val="000000">
                <a:alpha val="3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20060" r="20060"/>
          <a:stretch>
            <a:fillRect/>
          </a:stretch>
        </p:blipFill>
        <p:spPr>
          <a:xfrm>
            <a:off x="952500" y="1841500"/>
            <a:ext cx="4191000" cy="3937000"/>
          </a:xfrm>
          <a:prstGeom prst="roundRect">
            <a:avLst>
              <a:gd name="adj" fmla="val 3870"/>
            </a:avLst>
          </a:prstGeom>
          <a:noFill/>
          <a:ln w="25400" cap="flat" cmpd="sng">
            <a:noFill/>
            <a:prstDash val="solid"/>
            <a:round/>
          </a:ln>
        </p:spPr>
      </p:pic>
      <p:sp>
        <p:nvSpPr>
          <p:cNvPr id="6" name="AutoShape 6"/>
          <p:cNvSpPr/>
          <p:nvPr/>
        </p:nvSpPr>
        <p:spPr>
          <a:xfrm>
            <a:off x="5715000" y="1651000"/>
            <a:ext cx="5715000" cy="1397000"/>
          </a:xfrm>
          <a:prstGeom prst="roundRect">
            <a:avLst>
              <a:gd name="adj" fmla="val 10909"/>
            </a:avLst>
          </a:prstGeom>
          <a:solidFill>
            <a:srgbClr val="FFFFFF">
              <a:alpha val="8000"/>
            </a:srgbClr>
          </a:solidFill>
          <a:ln w="25400" cap="flat" cmpd="sng">
            <a:noFill/>
            <a:prstDash val="solid"/>
            <a:round/>
          </a:ln>
          <a:effectLst>
            <a:outerShdw blurRad="127000" dist="38100" dir="2700000" algn="tl" rotWithShape="0">
              <a:srgbClr val="000000">
                <a:alpha val="20000"/>
              </a:srgbClr>
            </a:outerShdw>
          </a:effectLst>
        </p:spPr>
        <p:txBody>
          <a:bodyPr vert="horz" wrap="square" lIns="63500" tIns="63500" rIns="63500" bIns="63500" rtlCol="0" anchor="ctr"/>
          <a:lstStyle/>
          <a:p>
            <a:pPr algn="ctr">
              <a:defRPr/>
            </a:pPr>
          </a:p>
        </p:txBody>
      </p:sp>
      <p:sp>
        <p:nvSpPr>
          <p:cNvPr id="7" name="AutoShape 7"/>
          <p:cNvSpPr/>
          <p:nvPr/>
        </p:nvSpPr>
        <p:spPr>
          <a:xfrm>
            <a:off x="5715000" y="1651000"/>
            <a:ext cx="76200" cy="1397000"/>
          </a:xfrm>
          <a:prstGeom prst="roundRect">
            <a:avLst>
              <a:gd name="adj" fmla="val 20000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032500" y="1968500"/>
            <a:ext cx="762000" cy="7620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10300" y="2146300"/>
            <a:ext cx="406400" cy="406400"/>
          </a:xfrm>
          <a:prstGeom prst="rect">
            <a:avLst/>
          </a:prstGeom>
        </p:spPr>
      </p:pic>
      <p:sp>
        <p:nvSpPr>
          <p:cNvPr id="10" name="AutoShape 10"/>
          <p:cNvSpPr/>
          <p:nvPr/>
        </p:nvSpPr>
        <p:spPr>
          <a:xfrm>
            <a:off x="6985000" y="1841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支持本地化部署</a:t>
            </a:r>
            <a:endParaRPr lang="en-US" sz="1100"/>
          </a:p>
        </p:txBody>
      </p:sp>
      <p:sp>
        <p:nvSpPr>
          <p:cNvPr id="11" name="AutoShape 11"/>
          <p:cNvSpPr/>
          <p:nvPr/>
        </p:nvSpPr>
        <p:spPr>
          <a:xfrm>
            <a:off x="6985000" y="2286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E5E7EB">
                    <a:alpha val="80000"/>
                  </a:srgbClr>
                </a:solidFill>
                <a:latin typeface="Noto Sans SC"/>
                <a:ea typeface="Noto Sans SC"/>
                <a:cs typeface="Noto Sans SC"/>
                <a:sym typeface="Noto Sans SC"/>
              </a:rPr>
              <a:t>可将整套系统部署在企业内网环境，确保核心数据不出域，满足最高安全合规要求。</a:t>
            </a:r>
            <a:endParaRPr lang="en-US" sz="1100"/>
          </a:p>
        </p:txBody>
      </p:sp>
      <p:sp>
        <p:nvSpPr>
          <p:cNvPr id="12" name="AutoShape 12"/>
          <p:cNvSpPr/>
          <p:nvPr/>
        </p:nvSpPr>
        <p:spPr>
          <a:xfrm>
            <a:off x="5715000" y="3302000"/>
            <a:ext cx="5715000" cy="1397000"/>
          </a:xfrm>
          <a:prstGeom prst="roundRect">
            <a:avLst>
              <a:gd name="adj" fmla="val 10909"/>
            </a:avLst>
          </a:prstGeom>
          <a:solidFill>
            <a:srgbClr val="FFFFFF">
              <a:alpha val="8000"/>
            </a:srgbClr>
          </a:solidFill>
          <a:ln w="25400" cap="flat" cmpd="sng">
            <a:noFill/>
            <a:prstDash val="solid"/>
            <a:round/>
          </a:ln>
          <a:effectLst>
            <a:outerShdw blurRad="127000" dist="38100" dir="2700000" algn="tl" rotWithShape="0">
              <a:srgbClr val="000000">
                <a:alpha val="20000"/>
              </a:srgbClr>
            </a:outerShdw>
          </a:effectLst>
        </p:spPr>
        <p:txBody>
          <a:bodyPr vert="horz" wrap="square" lIns="63500" tIns="63500" rIns="63500" bIns="63500" rtlCol="0" anchor="ctr"/>
          <a:lstStyle/>
          <a:p>
            <a:pPr algn="ctr">
              <a:defRPr/>
            </a:pPr>
          </a:p>
        </p:txBody>
      </p:sp>
      <p:sp>
        <p:nvSpPr>
          <p:cNvPr id="13" name="AutoShape 13"/>
          <p:cNvSpPr/>
          <p:nvPr/>
        </p:nvSpPr>
        <p:spPr>
          <a:xfrm>
            <a:off x="5715000" y="3302000"/>
            <a:ext cx="76200" cy="1397000"/>
          </a:xfrm>
          <a:prstGeom prst="roundRect">
            <a:avLst>
              <a:gd name="adj" fmla="val 20000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032500" y="3619500"/>
            <a:ext cx="762000" cy="7620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10300" y="3797300"/>
            <a:ext cx="406400" cy="406400"/>
          </a:xfrm>
          <a:prstGeom prst="rect">
            <a:avLst/>
          </a:prstGeom>
        </p:spPr>
      </p:pic>
      <p:sp>
        <p:nvSpPr>
          <p:cNvPr id="16" name="AutoShape 16"/>
          <p:cNvSpPr/>
          <p:nvPr/>
        </p:nvSpPr>
        <p:spPr>
          <a:xfrm>
            <a:off x="6985000" y="3492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灵活的模型选择</a:t>
            </a:r>
            <a:endParaRPr lang="en-US" sz="1100"/>
          </a:p>
        </p:txBody>
      </p:sp>
      <p:sp>
        <p:nvSpPr>
          <p:cNvPr id="17" name="AutoShape 17"/>
          <p:cNvSpPr/>
          <p:nvPr/>
        </p:nvSpPr>
        <p:spPr>
          <a:xfrm>
            <a:off x="6985000" y="3937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E5E7EB">
                    <a:alpha val="80000"/>
                  </a:srgbClr>
                </a:solidFill>
                <a:latin typeface="Noto Sans SC"/>
                <a:ea typeface="Noto Sans SC"/>
                <a:cs typeface="Noto Sans SC"/>
                <a:sym typeface="Noto Sans SC"/>
              </a:rPr>
              <a:t>支持接入主流的云端大模型（如OpenAI），也支持部署私有化的本地模型，兼顾性能与成本。</a:t>
            </a:r>
            <a:endParaRPr lang="en-US" sz="1100"/>
          </a:p>
        </p:txBody>
      </p:sp>
      <p:sp>
        <p:nvSpPr>
          <p:cNvPr id="18" name="AutoShape 18"/>
          <p:cNvSpPr/>
          <p:nvPr/>
        </p:nvSpPr>
        <p:spPr>
          <a:xfrm>
            <a:off x="5715000" y="4953000"/>
            <a:ext cx="5715000" cy="1397000"/>
          </a:xfrm>
          <a:prstGeom prst="roundRect">
            <a:avLst>
              <a:gd name="adj" fmla="val 10909"/>
            </a:avLst>
          </a:prstGeom>
          <a:solidFill>
            <a:srgbClr val="FFFFFF">
              <a:alpha val="8000"/>
            </a:srgbClr>
          </a:solidFill>
          <a:ln w="25400" cap="flat" cmpd="sng">
            <a:noFill/>
            <a:prstDash val="solid"/>
            <a:round/>
          </a:ln>
          <a:effectLst>
            <a:outerShdw blurRad="127000" dist="38100" dir="2700000" algn="tl" rotWithShape="0">
              <a:srgbClr val="000000">
                <a:alpha val="20000"/>
              </a:srgbClr>
            </a:outerShdw>
          </a:effectLst>
        </p:spPr>
        <p:txBody>
          <a:bodyPr vert="horz" wrap="square" lIns="63500" tIns="63500" rIns="63500" bIns="63500" rtlCol="0" anchor="ctr"/>
          <a:lstStyle/>
          <a:p>
            <a:pPr algn="ctr">
              <a:defRPr/>
            </a:pPr>
          </a:p>
        </p:txBody>
      </p:sp>
      <p:sp>
        <p:nvSpPr>
          <p:cNvPr id="19" name="AutoShape 19"/>
          <p:cNvSpPr/>
          <p:nvPr/>
        </p:nvSpPr>
        <p:spPr>
          <a:xfrm>
            <a:off x="5715000" y="4953000"/>
            <a:ext cx="76200" cy="1397000"/>
          </a:xfrm>
          <a:prstGeom prst="roundRect">
            <a:avLst>
              <a:gd name="adj" fmla="val 20000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032500" y="5270500"/>
            <a:ext cx="762000" cy="7620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10300" y="5448300"/>
            <a:ext cx="406400" cy="406400"/>
          </a:xfrm>
          <a:prstGeom prst="rect">
            <a:avLst/>
          </a:prstGeom>
        </p:spPr>
      </p:pic>
      <p:sp>
        <p:nvSpPr>
          <p:cNvPr id="22" name="AutoShape 22"/>
          <p:cNvSpPr/>
          <p:nvPr/>
        </p:nvSpPr>
        <p:spPr>
          <a:xfrm>
            <a:off x="6985000" y="51435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精细化数据权限</a:t>
            </a:r>
            <a:endParaRPr lang="en-US" sz="1100"/>
          </a:p>
        </p:txBody>
      </p:sp>
      <p:sp>
        <p:nvSpPr>
          <p:cNvPr id="23" name="AutoShape 23"/>
          <p:cNvSpPr/>
          <p:nvPr/>
        </p:nvSpPr>
        <p:spPr>
          <a:xfrm>
            <a:off x="6985000" y="55880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E5E7EB">
                    <a:alpha val="80000"/>
                  </a:srgbClr>
                </a:solidFill>
                <a:latin typeface="Noto Sans SC"/>
                <a:ea typeface="Noto Sans SC"/>
                <a:cs typeface="Noto Sans SC"/>
                <a:sym typeface="Noto Sans SC"/>
              </a:rPr>
              <a:t>提供基于角色的访问控制（RBAC），确保不同部门、不同岗位的员工只能看到其权限范围内的数据。</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携手探索，共创价值</a:t>
            </a:r>
            <a:endParaRPr lang="en-US" sz="1100"/>
          </a:p>
        </p:txBody>
      </p:sp>
      <p:sp>
        <p:nvSpPr>
          <p:cNvPr id="4" name="AutoShape 4"/>
          <p:cNvSpPr/>
          <p:nvPr/>
        </p:nvSpPr>
        <p:spPr>
          <a:xfrm>
            <a:off x="762000" y="1524000"/>
            <a:ext cx="4826000" cy="1270000"/>
          </a:xfrm>
          <a:prstGeom prst="roundRect">
            <a:avLst>
              <a:gd name="adj" fmla="val 12000"/>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78000"/>
            <a:ext cx="609600" cy="609600"/>
          </a:xfrm>
          <a:prstGeom prst="rect">
            <a:avLst/>
          </a:prstGeom>
        </p:spPr>
      </p:pic>
      <p:sp>
        <p:nvSpPr>
          <p:cNvPr id="6" name="AutoShape 6"/>
          <p:cNvSpPr/>
          <p:nvPr/>
        </p:nvSpPr>
        <p:spPr>
          <a:xfrm>
            <a:off x="1841500" y="1714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8A169"/>
                </a:solidFill>
                <a:latin typeface="Noto Sans SC"/>
                <a:ea typeface="Noto Sans SC"/>
                <a:cs typeface="Noto Sans SC"/>
                <a:sym typeface="Noto Sans SC"/>
              </a:rPr>
              <a:t>需求评估</a:t>
            </a:r>
            <a:endParaRPr lang="en-US" sz="1100"/>
          </a:p>
        </p:txBody>
      </p:sp>
      <p:sp>
        <p:nvSpPr>
          <p:cNvPr id="7" name="AutoShape 7"/>
          <p:cNvSpPr/>
          <p:nvPr/>
        </p:nvSpPr>
        <p:spPr>
          <a:xfrm>
            <a:off x="1841500" y="2159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E2E8F0"/>
                </a:solidFill>
                <a:latin typeface="Noto Sans SC"/>
                <a:ea typeface="Noto Sans SC"/>
                <a:cs typeface="Noto Sans SC"/>
                <a:sym typeface="Noto Sans SC"/>
              </a:rPr>
              <a:t>安排一次</a:t>
            </a:r>
            <a:r>
              <a:rPr lang="en-US" sz="1200" b="1" i="0" u="none" strike="noStrike">
                <a:solidFill>
                  <a:srgbClr val="E2E8F0"/>
                </a:solidFill>
                <a:latin typeface="Noto Sans SC"/>
                <a:ea typeface="Noto Sans SC"/>
                <a:cs typeface="Noto Sans SC"/>
                <a:sym typeface="Noto Sans SC"/>
              </a:rPr>
              <a:t>30分钟</a:t>
            </a:r>
            <a:r>
              <a:rPr lang="en-US" sz="1200" b="0" i="0" u="none" strike="noStrike">
                <a:solidFill>
                  <a:srgbClr val="E2E8F0"/>
                </a:solidFill>
                <a:latin typeface="Noto Sans SC"/>
                <a:ea typeface="Noto Sans SC"/>
                <a:cs typeface="Noto Sans SC"/>
                <a:sym typeface="Noto Sans SC"/>
              </a:rPr>
              <a:t>的深度沟通，深入了解您的具体数据结构、业务场景和核心诉求。</a:t>
            </a:r>
            <a:endParaRPr lang="en-US" sz="1100"/>
          </a:p>
        </p:txBody>
      </p:sp>
      <p:sp>
        <p:nvSpPr>
          <p:cNvPr id="8" name="AutoShape 8"/>
          <p:cNvSpPr/>
          <p:nvPr/>
        </p:nvSpPr>
        <p:spPr>
          <a:xfrm>
            <a:off x="762000" y="3048000"/>
            <a:ext cx="4826000" cy="1270000"/>
          </a:xfrm>
          <a:prstGeom prst="roundRect">
            <a:avLst>
              <a:gd name="adj" fmla="val 12000"/>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302000"/>
            <a:ext cx="609600" cy="609600"/>
          </a:xfrm>
          <a:prstGeom prst="rect">
            <a:avLst/>
          </a:prstGeom>
        </p:spPr>
      </p:pic>
      <p:sp>
        <p:nvSpPr>
          <p:cNvPr id="10" name="AutoShape 10"/>
          <p:cNvSpPr/>
          <p:nvPr/>
        </p:nvSpPr>
        <p:spPr>
          <a:xfrm>
            <a:off x="1841500" y="3238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8A169"/>
                </a:solidFill>
                <a:latin typeface="Noto Sans SC"/>
                <a:ea typeface="Noto Sans SC"/>
                <a:cs typeface="Noto Sans SC"/>
                <a:sym typeface="Noto Sans SC"/>
              </a:rPr>
              <a:t>定制方案输出</a:t>
            </a:r>
            <a:endParaRPr lang="en-US" sz="1100"/>
          </a:p>
        </p:txBody>
      </p:sp>
      <p:sp>
        <p:nvSpPr>
          <p:cNvPr id="11" name="AutoShape 11"/>
          <p:cNvSpPr/>
          <p:nvPr/>
        </p:nvSpPr>
        <p:spPr>
          <a:xfrm>
            <a:off x="1841500" y="3683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E2E8F0"/>
                </a:solidFill>
                <a:latin typeface="Noto Sans SC"/>
                <a:ea typeface="Noto Sans SC"/>
                <a:cs typeface="Noto Sans SC"/>
                <a:sym typeface="Noto Sans SC"/>
              </a:rPr>
              <a:t>基于评估结果，为您量身定制一套详细的技术落地方案和实施路线图，确保方案可落地。</a:t>
            </a:r>
            <a:endParaRPr lang="en-US" sz="1100"/>
          </a:p>
        </p:txBody>
      </p:sp>
      <p:sp>
        <p:nvSpPr>
          <p:cNvPr id="12" name="AutoShape 12"/>
          <p:cNvSpPr/>
          <p:nvPr/>
        </p:nvSpPr>
        <p:spPr>
          <a:xfrm>
            <a:off x="762000" y="4572000"/>
            <a:ext cx="4826000" cy="1270000"/>
          </a:xfrm>
          <a:prstGeom prst="roundRect">
            <a:avLst>
              <a:gd name="adj" fmla="val 12000"/>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826000"/>
            <a:ext cx="609600" cy="609600"/>
          </a:xfrm>
          <a:prstGeom prst="rect">
            <a:avLst/>
          </a:prstGeom>
        </p:spPr>
      </p:pic>
      <p:sp>
        <p:nvSpPr>
          <p:cNvPr id="14" name="AutoShape 14"/>
          <p:cNvSpPr/>
          <p:nvPr/>
        </p:nvSpPr>
        <p:spPr>
          <a:xfrm>
            <a:off x="1841500" y="4762500"/>
            <a:ext cx="3556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8A169"/>
                </a:solidFill>
                <a:latin typeface="Noto Sans SC"/>
                <a:ea typeface="Noto Sans SC"/>
                <a:cs typeface="Noto Sans SC"/>
                <a:sym typeface="Noto Sans SC"/>
              </a:rPr>
              <a:t>提供初步报价</a:t>
            </a:r>
            <a:endParaRPr lang="en-US" sz="1100"/>
          </a:p>
        </p:txBody>
      </p:sp>
      <p:sp>
        <p:nvSpPr>
          <p:cNvPr id="15" name="AutoShape 15"/>
          <p:cNvSpPr/>
          <p:nvPr/>
        </p:nvSpPr>
        <p:spPr>
          <a:xfrm>
            <a:off x="1841500" y="52070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E2E8F0"/>
                </a:solidFill>
                <a:latin typeface="Noto Sans SC"/>
                <a:ea typeface="Noto Sans SC"/>
                <a:cs typeface="Noto Sans SC"/>
                <a:sym typeface="Noto Sans SC"/>
              </a:rPr>
              <a:t>在方案明确后，提供包含咨询、开发、运维等不同阶段的详细成本报价，预算清晰透明。</a:t>
            </a:r>
            <a:endParaRPr lang="en-US" sz="1100"/>
          </a:p>
        </p:txBody>
      </p:sp>
      <p:sp>
        <p:nvSpPr>
          <p:cNvPr id="16" name="AutoShape 16"/>
          <p:cNvSpPr/>
          <p:nvPr/>
        </p:nvSpPr>
        <p:spPr>
          <a:xfrm>
            <a:off x="762000" y="5969000"/>
            <a:ext cx="4826000" cy="508000"/>
          </a:xfrm>
          <a:prstGeom prst="roundRect">
            <a:avLst>
              <a:gd name="adj" fmla="val 50000"/>
            </a:avLst>
          </a:prstGeom>
          <a:solidFill>
            <a:srgbClr val="38A169">
              <a:alpha val="100000"/>
            </a:srgbClr>
          </a:solidFill>
          <a:ln w="25400" cap="flat" cmpd="sng">
            <a:noFill/>
            <a:prstDash val="solid"/>
            <a:round/>
          </a:ln>
          <a:effectLst>
            <a:outerShdw blurRad="101600" dist="25400" dir="2700000" algn="tl" rotWithShape="0">
              <a:srgbClr val="000000">
                <a:alpha val="25000"/>
              </a:srgbClr>
            </a:outerShdw>
          </a:effectLst>
        </p:spPr>
        <p:txBody>
          <a:bodyPr vert="horz" wrap="square" lIns="63500" tIns="63500" rIns="63500" bIns="63500" rtlCol="0" anchor="ctr"/>
          <a:lstStyle/>
          <a:p>
            <a:pPr algn="ctr">
              <a:defRPr/>
            </a:pPr>
          </a:p>
        </p:txBody>
      </p:sp>
      <p:sp>
        <p:nvSpPr>
          <p:cNvPr id="17" name="AutoShape 17"/>
          <p:cNvSpPr/>
          <p:nvPr/>
        </p:nvSpPr>
        <p:spPr>
          <a:xfrm>
            <a:off x="762000" y="5969000"/>
            <a:ext cx="482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a:ea typeface="Noto Sans SC"/>
                <a:cs typeface="Noto Sans SC"/>
                <a:sym typeface="Noto Sans SC"/>
              </a:rPr>
              <a:t>您看什么时候方便？</a:t>
            </a:r>
            <a:endParaRPr lang="en-US" sz="1100"/>
          </a:p>
        </p:txBody>
      </p:sp>
      <p:pic>
        <p:nvPicPr>
          <p:cNvPr id="18" name="Picture 18"/>
          <p:cNvPicPr>
            <a:picLocks noChangeAspect="1"/>
          </p:cNvPicPr>
          <p:nvPr/>
        </p:nvPicPr>
        <p:blipFill>
          <a:blip r:embed="rId8"/>
          <a:srcRect l="20432" r="20432"/>
          <a:stretch>
            <a:fillRect/>
          </a:stretch>
        </p:blipFill>
        <p:spPr>
          <a:xfrm>
            <a:off x="5969000" y="1524000"/>
            <a:ext cx="5207000" cy="4953000"/>
          </a:xfrm>
          <a:prstGeom prst="roundRect">
            <a:avLst>
              <a:gd name="adj" fmla="val 4102"/>
            </a:avLst>
          </a:prstGeom>
          <a:noFill/>
          <a:ln w="25400" cap="flat" cmpd="sng">
            <a:noFill/>
            <a:prstDash val="solid"/>
            <a:round/>
          </a:ln>
          <a:effectLst>
            <a:outerShdw blurRad="203200" dist="76200" dir="2700000" algn="tl" rotWithShape="0">
              <a:srgbClr val="000000">
                <a:alpha val="3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2D3748"/>
                </a:solidFill>
                <a:latin typeface="Noto Sans SC"/>
                <a:ea typeface="Noto Sans SC"/>
                <a:cs typeface="Noto Sans SC"/>
                <a:sym typeface="Noto Sans SC"/>
              </a:rPr>
              <a:t>核心数据汇总表</a:t>
            </a:r>
            <a:endParaRPr lang="en-US" sz="1100"/>
          </a:p>
        </p:txBody>
      </p:sp>
      <p:sp>
        <p:nvSpPr>
          <p:cNvPr id="4" name="AutoShape 4"/>
          <p:cNvSpPr/>
          <p:nvPr/>
        </p:nvSpPr>
        <p:spPr>
          <a:xfrm>
            <a:off x="762000" y="1524000"/>
            <a:ext cx="3302000" cy="2159000"/>
          </a:xfrm>
          <a:prstGeom prst="roundRect">
            <a:avLst>
              <a:gd name="adj" fmla="val 7058"/>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78000"/>
            <a:ext cx="457200" cy="457200"/>
          </a:xfrm>
          <a:prstGeom prst="rect">
            <a:avLst/>
          </a:prstGeom>
        </p:spPr>
      </p:pic>
      <p:sp>
        <p:nvSpPr>
          <p:cNvPr id="6" name="AutoShape 6"/>
          <p:cNvSpPr/>
          <p:nvPr/>
        </p:nvSpPr>
        <p:spPr>
          <a:xfrm>
            <a:off x="1651000" y="18288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a:ea typeface="Noto Sans SC"/>
                <a:cs typeface="Noto Sans SC"/>
                <a:sym typeface="Noto Sans SC"/>
              </a:rPr>
              <a:t>累计数据量</a:t>
            </a:r>
            <a:endParaRPr lang="en-US" sz="1100"/>
          </a:p>
        </p:txBody>
      </p:sp>
      <p:sp>
        <p:nvSpPr>
          <p:cNvPr id="7" name="AutoShape 7"/>
          <p:cNvSpPr/>
          <p:nvPr/>
        </p:nvSpPr>
        <p:spPr>
          <a:xfrm>
            <a:off x="1016000" y="2413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38A169"/>
                </a:solidFill>
                <a:latin typeface="Noto Sans SC"/>
                <a:ea typeface="Noto Sans SC"/>
                <a:cs typeface="Noto Sans SC"/>
                <a:sym typeface="Noto Sans SC"/>
              </a:rPr>
              <a:t>数百万份文档</a:t>
            </a:r>
            <a:endParaRPr lang="en-US" sz="1100"/>
          </a:p>
        </p:txBody>
      </p:sp>
      <p:sp>
        <p:nvSpPr>
          <p:cNvPr id="8" name="AutoShape 8"/>
          <p:cNvSpPr/>
          <p:nvPr/>
        </p:nvSpPr>
        <p:spPr>
          <a:xfrm>
            <a:off x="1016000" y="3111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18096"/>
                </a:solidFill>
                <a:latin typeface="Noto Sans SC"/>
                <a:ea typeface="Noto Sans SC"/>
                <a:cs typeface="Noto Sans SC"/>
                <a:sym typeface="Noto Sans SC"/>
              </a:rPr>
              <a:t>描述客户场景的数据规模总量</a:t>
            </a:r>
            <a:endParaRPr lang="en-US" sz="1100"/>
          </a:p>
        </p:txBody>
      </p:sp>
      <p:sp>
        <p:nvSpPr>
          <p:cNvPr id="9" name="AutoShape 9"/>
          <p:cNvSpPr/>
          <p:nvPr/>
        </p:nvSpPr>
        <p:spPr>
          <a:xfrm>
            <a:off x="4445000" y="1524000"/>
            <a:ext cx="3302000" cy="2159000"/>
          </a:xfrm>
          <a:prstGeom prst="roundRect">
            <a:avLst>
              <a:gd name="adj" fmla="val 7058"/>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778000"/>
            <a:ext cx="457200" cy="457200"/>
          </a:xfrm>
          <a:prstGeom prst="rect">
            <a:avLst/>
          </a:prstGeom>
        </p:spPr>
      </p:pic>
      <p:sp>
        <p:nvSpPr>
          <p:cNvPr id="11" name="AutoShape 11"/>
          <p:cNvSpPr/>
          <p:nvPr/>
        </p:nvSpPr>
        <p:spPr>
          <a:xfrm>
            <a:off x="5334000" y="18288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a:ea typeface="Noto Sans SC"/>
                <a:cs typeface="Noto Sans SC"/>
                <a:sym typeface="Noto Sans SC"/>
              </a:rPr>
              <a:t>数据请求耗时</a:t>
            </a:r>
            <a:endParaRPr lang="en-US" sz="1100"/>
          </a:p>
        </p:txBody>
      </p:sp>
      <p:sp>
        <p:nvSpPr>
          <p:cNvPr id="12" name="AutoShape 12"/>
          <p:cNvSpPr/>
          <p:nvPr/>
        </p:nvSpPr>
        <p:spPr>
          <a:xfrm>
            <a:off x="4699000" y="2413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38A169"/>
                </a:solidFill>
                <a:latin typeface="Noto Sans SC"/>
                <a:ea typeface="Noto Sans SC"/>
                <a:cs typeface="Noto Sans SC"/>
                <a:sym typeface="Noto Sans SC"/>
              </a:rPr>
              <a:t>数小时 / 数天</a:t>
            </a:r>
            <a:endParaRPr lang="en-US" sz="1100"/>
          </a:p>
        </p:txBody>
      </p:sp>
      <p:sp>
        <p:nvSpPr>
          <p:cNvPr id="13" name="AutoShape 13"/>
          <p:cNvSpPr/>
          <p:nvPr/>
        </p:nvSpPr>
        <p:spPr>
          <a:xfrm>
            <a:off x="4699000" y="3111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18096"/>
                </a:solidFill>
                <a:latin typeface="Noto Sans SC"/>
                <a:ea typeface="Noto Sans SC"/>
                <a:cs typeface="Noto Sans SC"/>
                <a:sym typeface="Noto Sans SC"/>
              </a:rPr>
              <a:t>传统模式下痛点中的效率低下表现</a:t>
            </a:r>
            <a:endParaRPr lang="en-US" sz="1100"/>
          </a:p>
        </p:txBody>
      </p:sp>
      <p:sp>
        <p:nvSpPr>
          <p:cNvPr id="14" name="AutoShape 14"/>
          <p:cNvSpPr/>
          <p:nvPr/>
        </p:nvSpPr>
        <p:spPr>
          <a:xfrm>
            <a:off x="8128000" y="1524000"/>
            <a:ext cx="3302000" cy="2159000"/>
          </a:xfrm>
          <a:prstGeom prst="roundRect">
            <a:avLst>
              <a:gd name="adj" fmla="val 7058"/>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1778000"/>
            <a:ext cx="457200" cy="457200"/>
          </a:xfrm>
          <a:prstGeom prst="rect">
            <a:avLst/>
          </a:prstGeom>
        </p:spPr>
      </p:pic>
      <p:sp>
        <p:nvSpPr>
          <p:cNvPr id="16" name="AutoShape 16"/>
          <p:cNvSpPr/>
          <p:nvPr/>
        </p:nvSpPr>
        <p:spPr>
          <a:xfrm>
            <a:off x="9017000" y="18288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a:ea typeface="Noto Sans SC"/>
                <a:cs typeface="Noto Sans SC"/>
                <a:sym typeface="Noto Sans SC"/>
              </a:rPr>
              <a:t>查询效率提升</a:t>
            </a:r>
            <a:endParaRPr lang="en-US" sz="1100"/>
          </a:p>
        </p:txBody>
      </p:sp>
      <p:sp>
        <p:nvSpPr>
          <p:cNvPr id="17" name="AutoShape 17"/>
          <p:cNvSpPr/>
          <p:nvPr/>
        </p:nvSpPr>
        <p:spPr>
          <a:xfrm>
            <a:off x="8382000" y="2413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38A169"/>
                </a:solidFill>
                <a:latin typeface="Noto Sans SC"/>
                <a:ea typeface="Noto Sans SC"/>
                <a:cs typeface="Noto Sans SC"/>
                <a:sym typeface="Noto Sans SC"/>
              </a:rPr>
              <a:t>70% +</a:t>
            </a:r>
            <a:endParaRPr lang="en-US" sz="1100"/>
          </a:p>
        </p:txBody>
      </p:sp>
      <p:sp>
        <p:nvSpPr>
          <p:cNvPr id="18" name="AutoShape 18"/>
          <p:cNvSpPr/>
          <p:nvPr/>
        </p:nvSpPr>
        <p:spPr>
          <a:xfrm>
            <a:off x="8382000" y="3111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18096"/>
                </a:solidFill>
                <a:latin typeface="Noto Sans SC"/>
                <a:ea typeface="Noto Sans SC"/>
                <a:cs typeface="Noto Sans SC"/>
                <a:sym typeface="Noto Sans SC"/>
              </a:rPr>
              <a:t>新方案上线后显著的性能优化效果</a:t>
            </a:r>
            <a:endParaRPr lang="en-US" sz="1100"/>
          </a:p>
        </p:txBody>
      </p:sp>
      <p:sp>
        <p:nvSpPr>
          <p:cNvPr id="19" name="AutoShape 19"/>
          <p:cNvSpPr/>
          <p:nvPr/>
        </p:nvSpPr>
        <p:spPr>
          <a:xfrm>
            <a:off x="762000" y="3937000"/>
            <a:ext cx="3302000" cy="2159000"/>
          </a:xfrm>
          <a:prstGeom prst="roundRect">
            <a:avLst>
              <a:gd name="adj" fmla="val 7058"/>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191000"/>
            <a:ext cx="457200" cy="457200"/>
          </a:xfrm>
          <a:prstGeom prst="rect">
            <a:avLst/>
          </a:prstGeom>
        </p:spPr>
      </p:pic>
      <p:sp>
        <p:nvSpPr>
          <p:cNvPr id="21" name="AutoShape 21"/>
          <p:cNvSpPr/>
          <p:nvPr/>
        </p:nvSpPr>
        <p:spPr>
          <a:xfrm>
            <a:off x="1651000" y="42418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a:ea typeface="Noto Sans SC"/>
                <a:cs typeface="Noto Sans SC"/>
                <a:sym typeface="Noto Sans SC"/>
              </a:rPr>
              <a:t>人工成本降低</a:t>
            </a:r>
            <a:endParaRPr lang="en-US" sz="1100"/>
          </a:p>
        </p:txBody>
      </p:sp>
      <p:sp>
        <p:nvSpPr>
          <p:cNvPr id="22" name="AutoShape 22"/>
          <p:cNvSpPr/>
          <p:nvPr/>
        </p:nvSpPr>
        <p:spPr>
          <a:xfrm>
            <a:off x="1016000" y="4826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38A169"/>
                </a:solidFill>
                <a:latin typeface="Noto Sans SC"/>
                <a:ea typeface="Noto Sans SC"/>
                <a:cs typeface="Noto Sans SC"/>
                <a:sym typeface="Noto Sans SC"/>
              </a:rPr>
              <a:t>XX %</a:t>
            </a:r>
            <a:endParaRPr lang="en-US" sz="1100"/>
          </a:p>
        </p:txBody>
      </p:sp>
      <p:sp>
        <p:nvSpPr>
          <p:cNvPr id="23" name="AutoShape 23"/>
          <p:cNvSpPr/>
          <p:nvPr/>
        </p:nvSpPr>
        <p:spPr>
          <a:xfrm>
            <a:off x="1016000" y="5524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18096"/>
                </a:solidFill>
                <a:latin typeface="Noto Sans SC"/>
                <a:ea typeface="Noto Sans SC"/>
                <a:cs typeface="Noto Sans SC"/>
                <a:sym typeface="Noto Sans SC"/>
              </a:rPr>
              <a:t>自动化流程带来的人力投入节省</a:t>
            </a:r>
            <a:endParaRPr lang="en-US" sz="1100"/>
          </a:p>
        </p:txBody>
      </p:sp>
      <p:sp>
        <p:nvSpPr>
          <p:cNvPr id="24" name="AutoShape 24"/>
          <p:cNvSpPr/>
          <p:nvPr/>
        </p:nvSpPr>
        <p:spPr>
          <a:xfrm>
            <a:off x="4445000" y="3937000"/>
            <a:ext cx="3302000" cy="2159000"/>
          </a:xfrm>
          <a:prstGeom prst="roundRect">
            <a:avLst>
              <a:gd name="adj" fmla="val 7058"/>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99000" y="4191000"/>
            <a:ext cx="457200" cy="457200"/>
          </a:xfrm>
          <a:prstGeom prst="rect">
            <a:avLst/>
          </a:prstGeom>
        </p:spPr>
      </p:pic>
      <p:sp>
        <p:nvSpPr>
          <p:cNvPr id="26" name="AutoShape 26"/>
          <p:cNvSpPr/>
          <p:nvPr/>
        </p:nvSpPr>
        <p:spPr>
          <a:xfrm>
            <a:off x="5334000" y="42418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a:ea typeface="Noto Sans SC"/>
                <a:cs typeface="Noto Sans SC"/>
                <a:sym typeface="Noto Sans SC"/>
              </a:rPr>
              <a:t>平均响应时间</a:t>
            </a:r>
            <a:endParaRPr lang="en-US" sz="1100"/>
          </a:p>
        </p:txBody>
      </p:sp>
      <p:sp>
        <p:nvSpPr>
          <p:cNvPr id="27" name="AutoShape 27"/>
          <p:cNvSpPr/>
          <p:nvPr/>
        </p:nvSpPr>
        <p:spPr>
          <a:xfrm>
            <a:off x="4699000" y="4826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38A169"/>
                </a:solidFill>
                <a:latin typeface="Noto Sans SC"/>
                <a:ea typeface="Noto Sans SC"/>
                <a:cs typeface="Noto Sans SC"/>
                <a:sym typeface="Noto Sans SC"/>
              </a:rPr>
              <a:t>&lt; 2 s</a:t>
            </a:r>
            <a:endParaRPr lang="en-US" sz="1100"/>
          </a:p>
        </p:txBody>
      </p:sp>
      <p:sp>
        <p:nvSpPr>
          <p:cNvPr id="28" name="AutoShape 28"/>
          <p:cNvSpPr/>
          <p:nvPr/>
        </p:nvSpPr>
        <p:spPr>
          <a:xfrm>
            <a:off x="4699000" y="5524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18096"/>
                </a:solidFill>
                <a:latin typeface="Noto Sans SC"/>
                <a:ea typeface="Noto Sans SC"/>
                <a:cs typeface="Noto Sans SC"/>
                <a:sym typeface="Noto Sans SC"/>
              </a:rPr>
              <a:t>系统处理单次请求的快速响应能力</a:t>
            </a:r>
            <a:endParaRPr lang="en-US" sz="1100"/>
          </a:p>
        </p:txBody>
      </p:sp>
      <p:sp>
        <p:nvSpPr>
          <p:cNvPr id="29" name="AutoShape 29"/>
          <p:cNvSpPr/>
          <p:nvPr/>
        </p:nvSpPr>
        <p:spPr>
          <a:xfrm>
            <a:off x="8128000" y="3937000"/>
            <a:ext cx="3302000" cy="2159000"/>
          </a:xfrm>
          <a:prstGeom prst="roundRect">
            <a:avLst>
              <a:gd name="adj" fmla="val 7058"/>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82000" y="4191000"/>
            <a:ext cx="457200" cy="457200"/>
          </a:xfrm>
          <a:prstGeom prst="rect">
            <a:avLst/>
          </a:prstGeom>
        </p:spPr>
      </p:pic>
      <p:sp>
        <p:nvSpPr>
          <p:cNvPr id="31" name="AutoShape 31"/>
          <p:cNvSpPr/>
          <p:nvPr/>
        </p:nvSpPr>
        <p:spPr>
          <a:xfrm>
            <a:off x="9017000" y="42418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D3748"/>
                </a:solidFill>
                <a:latin typeface="Noto Sans SC"/>
                <a:ea typeface="Noto Sans SC"/>
                <a:cs typeface="Noto Sans SC"/>
                <a:sym typeface="Noto Sans SC"/>
              </a:rPr>
              <a:t>查询准确率</a:t>
            </a:r>
            <a:endParaRPr lang="en-US" sz="1100"/>
          </a:p>
        </p:txBody>
      </p:sp>
      <p:sp>
        <p:nvSpPr>
          <p:cNvPr id="32" name="AutoShape 32"/>
          <p:cNvSpPr/>
          <p:nvPr/>
        </p:nvSpPr>
        <p:spPr>
          <a:xfrm>
            <a:off x="8382000" y="48260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38A169"/>
                </a:solidFill>
                <a:latin typeface="Noto Sans SC"/>
                <a:ea typeface="Noto Sans SC"/>
                <a:cs typeface="Noto Sans SC"/>
                <a:sym typeface="Noto Sans SC"/>
              </a:rPr>
              <a:t>XX %</a:t>
            </a:r>
            <a:endParaRPr lang="en-US" sz="1100"/>
          </a:p>
        </p:txBody>
      </p:sp>
      <p:sp>
        <p:nvSpPr>
          <p:cNvPr id="33" name="AutoShape 33"/>
          <p:cNvSpPr/>
          <p:nvPr/>
        </p:nvSpPr>
        <p:spPr>
          <a:xfrm>
            <a:off x="8382000" y="5524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18096"/>
                </a:solidFill>
                <a:latin typeface="Noto Sans SC"/>
                <a:ea typeface="Noto Sans SC"/>
                <a:cs typeface="Noto Sans SC"/>
                <a:sym typeface="Noto Sans SC"/>
              </a:rPr>
              <a:t>AI模型检索结果的精准匹配度</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感谢聆听</a:t>
            </a:r>
            <a:endParaRPr lang="en-US" sz="1100"/>
          </a:p>
        </p:txBody>
      </p:sp>
      <p:sp>
        <p:nvSpPr>
          <p:cNvPr id="4" name="AutoShape 4"/>
          <p:cNvSpPr/>
          <p:nvPr/>
        </p:nvSpPr>
        <p:spPr>
          <a:xfrm>
            <a:off x="0" y="2667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38A169"/>
                </a:solidFill>
                <a:latin typeface="Noto Sans SC"/>
                <a:ea typeface="Noto Sans SC"/>
                <a:cs typeface="Noto Sans SC"/>
                <a:sym typeface="Noto Sans SC"/>
              </a:rPr>
              <a:t>Q &amp; A</a:t>
            </a:r>
            <a:endParaRPr lang="en-US" sz="1100"/>
          </a:p>
        </p:txBody>
      </p:sp>
      <p:sp>
        <p:nvSpPr>
          <p:cNvPr id="5" name="AutoShape 5"/>
          <p:cNvSpPr/>
          <p:nvPr/>
        </p:nvSpPr>
        <p:spPr>
          <a:xfrm>
            <a:off x="0" y="4318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spc="200">
                <a:solidFill>
                  <a:srgbClr val="FFFFFF"/>
                </a:solidFill>
                <a:latin typeface="Noto Sans SC"/>
                <a:ea typeface="Noto Sans SC"/>
                <a:cs typeface="Noto Sans SC"/>
                <a:sym typeface="Noto Sans SC"/>
              </a:rPr>
              <a:t>[ 贵公司名称 ]</a:t>
            </a:r>
            <a:endParaRPr lang="en-US" sz="1100"/>
          </a:p>
        </p:txBody>
      </p:sp>
      <p:sp>
        <p:nvSpPr>
          <p:cNvPr id="6" name="AutoShape 6"/>
          <p:cNvSpPr/>
          <p:nvPr/>
        </p:nvSpPr>
        <p:spPr>
          <a:xfrm>
            <a:off x="0" y="5080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FFFFFF">
                    <a:alpha val="80000"/>
                  </a:srgbClr>
                </a:solidFill>
                <a:latin typeface="Noto Sans SC"/>
                <a:ea typeface="Noto Sans SC"/>
                <a:cs typeface="Noto Sans SC"/>
                <a:sym typeface="Noto Sans SC"/>
              </a:rPr>
              <a:t>[ 联系电话 ] | [ 联系邮箱 ] | [ 公司网址 ]</a:t>
            </a:r>
            <a:endParaRPr lang="en-US" sz="1100"/>
          </a:p>
        </p:txBody>
      </p:sp>
      <p:pic>
        <p:nvPicPr>
          <p:cNvPr id="7" name="Picture 7"/>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2561</Words>
  <Application>WPS 文字</Application>
  <PresentationFormat/>
  <Paragraphs>258</Paragraphs>
  <Slides>14</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14</vt:i4>
      </vt:variant>
    </vt:vector>
  </HeadingPairs>
  <TitlesOfParts>
    <vt:vector size="29"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Noto Sans SC</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天意</cp:lastModifiedBy>
  <cp:revision>3</cp:revision>
  <dcterms:created xsi:type="dcterms:W3CDTF">2026-04-22T11:48:33Z</dcterms:created>
  <dcterms:modified xsi:type="dcterms:W3CDTF">2026-04-22T11:48:33Z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2052-12.1.25867.25867</vt:lpwstr>
  </property>
  <property fmtid="{D5CDD505-2E9C-101B-9397-08002B2CF9AE}" pid="3" name="ICV">
    <vt:lpwstr>E43E0B13667E8A4FDB8AE869EAC441D9_42</vt:lpwstr>
  </property>
</Properties>
</file>